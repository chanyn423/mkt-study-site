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61" r:id="rId2"/>
    <p:sldId id="300" r:id="rId3"/>
    <p:sldId id="311" r:id="rId4"/>
    <p:sldId id="333" r:id="rId5"/>
    <p:sldId id="334" r:id="rId6"/>
    <p:sldId id="301" r:id="rId7"/>
    <p:sldId id="312" r:id="rId8"/>
    <p:sldId id="313" r:id="rId9"/>
    <p:sldId id="302" r:id="rId10"/>
    <p:sldId id="314" r:id="rId11"/>
    <p:sldId id="315" r:id="rId12"/>
    <p:sldId id="303" r:id="rId13"/>
    <p:sldId id="317" r:id="rId14"/>
    <p:sldId id="318" r:id="rId15"/>
    <p:sldId id="304" r:id="rId16"/>
    <p:sldId id="319" r:id="rId17"/>
    <p:sldId id="320" r:id="rId18"/>
    <p:sldId id="335" r:id="rId19"/>
    <p:sldId id="336" r:id="rId20"/>
    <p:sldId id="337" r:id="rId21"/>
    <p:sldId id="305" r:id="rId22"/>
    <p:sldId id="321" r:id="rId23"/>
    <p:sldId id="322" r:id="rId24"/>
    <p:sldId id="306" r:id="rId25"/>
    <p:sldId id="323" r:id="rId26"/>
    <p:sldId id="324" r:id="rId27"/>
    <p:sldId id="338" r:id="rId28"/>
    <p:sldId id="307" r:id="rId29"/>
    <p:sldId id="325" r:id="rId30"/>
    <p:sldId id="326" r:id="rId31"/>
    <p:sldId id="339" r:id="rId32"/>
    <p:sldId id="340" r:id="rId33"/>
    <p:sldId id="308" r:id="rId34"/>
    <p:sldId id="327" r:id="rId35"/>
    <p:sldId id="328" r:id="rId36"/>
    <p:sldId id="341" r:id="rId37"/>
    <p:sldId id="352" r:id="rId38"/>
    <p:sldId id="355" r:id="rId39"/>
    <p:sldId id="353" r:id="rId40"/>
    <p:sldId id="351" r:id="rId41"/>
    <p:sldId id="346" r:id="rId42"/>
    <p:sldId id="348" r:id="rId43"/>
    <p:sldId id="347" r:id="rId44"/>
    <p:sldId id="349" r:id="rId45"/>
    <p:sldId id="345" r:id="rId46"/>
    <p:sldId id="342" r:id="rId47"/>
    <p:sldId id="343" r:id="rId48"/>
    <p:sldId id="309" r:id="rId49"/>
    <p:sldId id="329" r:id="rId50"/>
    <p:sldId id="330" r:id="rId51"/>
    <p:sldId id="310" r:id="rId52"/>
    <p:sldId id="331" r:id="rId53"/>
    <p:sldId id="332" r:id="rId54"/>
  </p:sldIdLst>
  <p:sldSz cx="12192000" cy="6858000"/>
  <p:notesSz cx="6797675" cy="99266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388" autoAdjust="0"/>
    <p:restoredTop sz="94660"/>
  </p:normalViewPr>
  <p:slideViewPr>
    <p:cSldViewPr snapToGrid="0">
      <p:cViewPr>
        <p:scale>
          <a:sx n="75" d="100"/>
          <a:sy n="75" d="100"/>
        </p:scale>
        <p:origin x="1253" y="187"/>
      </p:cViewPr>
      <p:guideLst/>
    </p:cSldViewPr>
  </p:slideViewPr>
  <p:notesTextViewPr>
    <p:cViewPr>
      <p:scale>
        <a:sx n="1" d="1"/>
        <a:sy n="1" d="1"/>
      </p:scale>
      <p:origin x="0" y="0"/>
    </p:cViewPr>
  </p:notesTextViewPr>
  <p:sorterViewPr>
    <p:cViewPr varScale="1">
      <p:scale>
        <a:sx n="1" d="1"/>
        <a:sy n="1" d="1"/>
      </p:scale>
      <p:origin x="0" y="-1575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04F0D328-4D0B-43BC-9234-E931651C542C}" type="datetimeFigureOut">
              <a:rPr lang="zh-TW" altLang="en-US" smtClean="0"/>
              <a:t>2026/5/14</a:t>
            </a:fld>
            <a:endParaRPr lang="zh-TW" altLang="en-US"/>
          </a:p>
        </p:txBody>
      </p:sp>
      <p:sp>
        <p:nvSpPr>
          <p:cNvPr id="4" name="投影片影像版面配置區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85C01FA6-F0C7-47AB-81B9-0CAC3663AC8D}" type="slidenum">
              <a:rPr lang="zh-TW" altLang="en-US" smtClean="0"/>
              <a:t>‹#›</a:t>
            </a:fld>
            <a:endParaRPr lang="zh-TW" altLang="en-US"/>
          </a:p>
        </p:txBody>
      </p:sp>
    </p:spTree>
    <p:extLst>
      <p:ext uri="{BB962C8B-B14F-4D97-AF65-F5344CB8AC3E}">
        <p14:creationId xmlns:p14="http://schemas.microsoft.com/office/powerpoint/2010/main" val="1702283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DFEE8B-2845-4A0F-A438-12E0F917BCFE}"/>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50355E9-DEDB-4D6B-9385-9110471555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83B6E68E-4530-4A09-A6D9-773669A2C3F5}"/>
              </a:ext>
            </a:extLst>
          </p:cNvPr>
          <p:cNvSpPr>
            <a:spLocks noGrp="1"/>
          </p:cNvSpPr>
          <p:nvPr>
            <p:ph type="dt" sz="half" idx="10"/>
          </p:nvPr>
        </p:nvSpPr>
        <p:spPr/>
        <p:txBody>
          <a:bodyPr/>
          <a:lstStyle/>
          <a:p>
            <a:fld id="{A49E8508-FC05-4DC5-A45A-F6C201974417}" type="datetimeFigureOut">
              <a:rPr lang="zh-TW" altLang="en-US" smtClean="0"/>
              <a:t>2026/5/14</a:t>
            </a:fld>
            <a:endParaRPr lang="zh-TW" altLang="en-US"/>
          </a:p>
        </p:txBody>
      </p:sp>
      <p:sp>
        <p:nvSpPr>
          <p:cNvPr id="5" name="頁尾版面配置區 4">
            <a:extLst>
              <a:ext uri="{FF2B5EF4-FFF2-40B4-BE49-F238E27FC236}">
                <a16:creationId xmlns:a16="http://schemas.microsoft.com/office/drawing/2014/main" id="{4088B70B-81EF-447F-9644-C02B435D471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8E8AAD1-5CA0-4B94-A9EC-3E99230F6FB2}"/>
              </a:ext>
            </a:extLst>
          </p:cNvPr>
          <p:cNvSpPr>
            <a:spLocks noGrp="1"/>
          </p:cNvSpPr>
          <p:nvPr>
            <p:ph type="sldNum" sz="quarter" idx="12"/>
          </p:nvPr>
        </p:nvSpPr>
        <p:spPr/>
        <p:txBody>
          <a:bodyPr/>
          <a:lstStyle/>
          <a:p>
            <a:fld id="{3655B709-D27D-480D-9491-2806B8643D20}" type="slidenum">
              <a:rPr lang="zh-TW" altLang="en-US" smtClean="0"/>
              <a:t>‹#›</a:t>
            </a:fld>
            <a:endParaRPr lang="zh-TW" altLang="en-US"/>
          </a:p>
        </p:txBody>
      </p:sp>
    </p:spTree>
    <p:extLst>
      <p:ext uri="{BB962C8B-B14F-4D97-AF65-F5344CB8AC3E}">
        <p14:creationId xmlns:p14="http://schemas.microsoft.com/office/powerpoint/2010/main" val="2250472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021F4A-761A-4317-BD5E-6C5DFE8EB5C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7DC2165-09D1-4325-977F-1607D8F892F4}"/>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D1C1136-BC20-4EEC-A452-1AF528463C06}"/>
              </a:ext>
            </a:extLst>
          </p:cNvPr>
          <p:cNvSpPr>
            <a:spLocks noGrp="1"/>
          </p:cNvSpPr>
          <p:nvPr>
            <p:ph type="dt" sz="half" idx="10"/>
          </p:nvPr>
        </p:nvSpPr>
        <p:spPr/>
        <p:txBody>
          <a:bodyPr/>
          <a:lstStyle/>
          <a:p>
            <a:fld id="{A49E8508-FC05-4DC5-A45A-F6C201974417}" type="datetimeFigureOut">
              <a:rPr lang="zh-TW" altLang="en-US" smtClean="0"/>
              <a:t>2026/5/14</a:t>
            </a:fld>
            <a:endParaRPr lang="zh-TW" altLang="en-US"/>
          </a:p>
        </p:txBody>
      </p:sp>
      <p:sp>
        <p:nvSpPr>
          <p:cNvPr id="5" name="頁尾版面配置區 4">
            <a:extLst>
              <a:ext uri="{FF2B5EF4-FFF2-40B4-BE49-F238E27FC236}">
                <a16:creationId xmlns:a16="http://schemas.microsoft.com/office/drawing/2014/main" id="{C3DD3D21-2141-42FA-9877-85C523020C9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9B4CE1A-D873-4CB3-8E31-D4E6BEA446C4}"/>
              </a:ext>
            </a:extLst>
          </p:cNvPr>
          <p:cNvSpPr>
            <a:spLocks noGrp="1"/>
          </p:cNvSpPr>
          <p:nvPr>
            <p:ph type="sldNum" sz="quarter" idx="12"/>
          </p:nvPr>
        </p:nvSpPr>
        <p:spPr/>
        <p:txBody>
          <a:bodyPr/>
          <a:lstStyle/>
          <a:p>
            <a:fld id="{3655B709-D27D-480D-9491-2806B8643D20}" type="slidenum">
              <a:rPr lang="zh-TW" altLang="en-US" smtClean="0"/>
              <a:t>‹#›</a:t>
            </a:fld>
            <a:endParaRPr lang="zh-TW" altLang="en-US"/>
          </a:p>
        </p:txBody>
      </p:sp>
    </p:spTree>
    <p:extLst>
      <p:ext uri="{BB962C8B-B14F-4D97-AF65-F5344CB8AC3E}">
        <p14:creationId xmlns:p14="http://schemas.microsoft.com/office/powerpoint/2010/main" val="2924598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7D5991-7186-4D1A-9385-CD24CD95203A}"/>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7F5D806C-FEE6-4E77-9016-A8F728336B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1D36044B-95BC-4323-BCB0-A5967192867E}"/>
              </a:ext>
            </a:extLst>
          </p:cNvPr>
          <p:cNvSpPr>
            <a:spLocks noGrp="1"/>
          </p:cNvSpPr>
          <p:nvPr>
            <p:ph type="dt" sz="half" idx="10"/>
          </p:nvPr>
        </p:nvSpPr>
        <p:spPr/>
        <p:txBody>
          <a:bodyPr/>
          <a:lstStyle/>
          <a:p>
            <a:fld id="{A49E8508-FC05-4DC5-A45A-F6C201974417}" type="datetimeFigureOut">
              <a:rPr lang="zh-TW" altLang="en-US" smtClean="0"/>
              <a:t>2026/5/14</a:t>
            </a:fld>
            <a:endParaRPr lang="zh-TW" altLang="en-US"/>
          </a:p>
        </p:txBody>
      </p:sp>
      <p:sp>
        <p:nvSpPr>
          <p:cNvPr id="5" name="頁尾版面配置區 4">
            <a:extLst>
              <a:ext uri="{FF2B5EF4-FFF2-40B4-BE49-F238E27FC236}">
                <a16:creationId xmlns:a16="http://schemas.microsoft.com/office/drawing/2014/main" id="{BC56DC6B-233A-483E-AEED-0BABEA4B74C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84DAC86-045D-415D-AA5E-A9D36798F68C}"/>
              </a:ext>
            </a:extLst>
          </p:cNvPr>
          <p:cNvSpPr>
            <a:spLocks noGrp="1"/>
          </p:cNvSpPr>
          <p:nvPr>
            <p:ph type="sldNum" sz="quarter" idx="12"/>
          </p:nvPr>
        </p:nvSpPr>
        <p:spPr/>
        <p:txBody>
          <a:bodyPr/>
          <a:lstStyle/>
          <a:p>
            <a:fld id="{3655B709-D27D-480D-9491-2806B8643D20}" type="slidenum">
              <a:rPr lang="zh-TW" altLang="en-US" smtClean="0"/>
              <a:t>‹#›</a:t>
            </a:fld>
            <a:endParaRPr lang="zh-TW" altLang="en-US"/>
          </a:p>
        </p:txBody>
      </p:sp>
    </p:spTree>
    <p:extLst>
      <p:ext uri="{BB962C8B-B14F-4D97-AF65-F5344CB8AC3E}">
        <p14:creationId xmlns:p14="http://schemas.microsoft.com/office/powerpoint/2010/main" val="1693080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F5D76F-3123-4AD1-A5DE-5C7D6E1F5EF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AABA624-05A6-4C9E-B206-68C96FE4A5AC}"/>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0B97DFE4-0528-4A34-849A-0F1CD2AA12B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D1C09F9-2867-4425-B1B5-AB06E42684E1}"/>
              </a:ext>
            </a:extLst>
          </p:cNvPr>
          <p:cNvSpPr>
            <a:spLocks noGrp="1"/>
          </p:cNvSpPr>
          <p:nvPr>
            <p:ph type="dt" sz="half" idx="10"/>
          </p:nvPr>
        </p:nvSpPr>
        <p:spPr/>
        <p:txBody>
          <a:bodyPr/>
          <a:lstStyle/>
          <a:p>
            <a:fld id="{A49E8508-FC05-4DC5-A45A-F6C201974417}" type="datetimeFigureOut">
              <a:rPr lang="zh-TW" altLang="en-US" smtClean="0"/>
              <a:t>2026/5/14</a:t>
            </a:fld>
            <a:endParaRPr lang="zh-TW" altLang="en-US"/>
          </a:p>
        </p:txBody>
      </p:sp>
      <p:sp>
        <p:nvSpPr>
          <p:cNvPr id="6" name="頁尾版面配置區 5">
            <a:extLst>
              <a:ext uri="{FF2B5EF4-FFF2-40B4-BE49-F238E27FC236}">
                <a16:creationId xmlns:a16="http://schemas.microsoft.com/office/drawing/2014/main" id="{3CEBC473-5BF3-4398-8BDB-7083E7AA2A2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2B67B46-68C9-475D-8259-09204E59F592}"/>
              </a:ext>
            </a:extLst>
          </p:cNvPr>
          <p:cNvSpPr>
            <a:spLocks noGrp="1"/>
          </p:cNvSpPr>
          <p:nvPr>
            <p:ph type="sldNum" sz="quarter" idx="12"/>
          </p:nvPr>
        </p:nvSpPr>
        <p:spPr/>
        <p:txBody>
          <a:bodyPr/>
          <a:lstStyle/>
          <a:p>
            <a:fld id="{3655B709-D27D-480D-9491-2806B8643D20}" type="slidenum">
              <a:rPr lang="zh-TW" altLang="en-US" smtClean="0"/>
              <a:t>‹#›</a:t>
            </a:fld>
            <a:endParaRPr lang="zh-TW" altLang="en-US"/>
          </a:p>
        </p:txBody>
      </p:sp>
    </p:spTree>
    <p:extLst>
      <p:ext uri="{BB962C8B-B14F-4D97-AF65-F5344CB8AC3E}">
        <p14:creationId xmlns:p14="http://schemas.microsoft.com/office/powerpoint/2010/main" val="694553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917307-C9DA-4F8F-B21A-09AA03982EB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6A57069-E5A4-449F-9826-6B10AFE078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933EF1F1-3380-48C7-A76B-D6130D9CA7D2}"/>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305BA36-7F81-4079-901F-0E38EE065F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DEEA9314-E918-4489-80D2-4272257AF1D1}"/>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B320ED3-6FD8-442F-801F-611CE2C1AB81}"/>
              </a:ext>
            </a:extLst>
          </p:cNvPr>
          <p:cNvSpPr>
            <a:spLocks noGrp="1"/>
          </p:cNvSpPr>
          <p:nvPr>
            <p:ph type="dt" sz="half" idx="10"/>
          </p:nvPr>
        </p:nvSpPr>
        <p:spPr/>
        <p:txBody>
          <a:bodyPr/>
          <a:lstStyle/>
          <a:p>
            <a:fld id="{A49E8508-FC05-4DC5-A45A-F6C201974417}" type="datetimeFigureOut">
              <a:rPr lang="zh-TW" altLang="en-US" smtClean="0"/>
              <a:t>2026/5/14</a:t>
            </a:fld>
            <a:endParaRPr lang="zh-TW" altLang="en-US"/>
          </a:p>
        </p:txBody>
      </p:sp>
      <p:sp>
        <p:nvSpPr>
          <p:cNvPr id="8" name="頁尾版面配置區 7">
            <a:extLst>
              <a:ext uri="{FF2B5EF4-FFF2-40B4-BE49-F238E27FC236}">
                <a16:creationId xmlns:a16="http://schemas.microsoft.com/office/drawing/2014/main" id="{4ED81CF7-D112-46BD-A0D8-D9A26724FFC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ABA1A94-07C4-4F6A-91F6-587F6FE479C7}"/>
              </a:ext>
            </a:extLst>
          </p:cNvPr>
          <p:cNvSpPr>
            <a:spLocks noGrp="1"/>
          </p:cNvSpPr>
          <p:nvPr>
            <p:ph type="sldNum" sz="quarter" idx="12"/>
          </p:nvPr>
        </p:nvSpPr>
        <p:spPr/>
        <p:txBody>
          <a:bodyPr/>
          <a:lstStyle/>
          <a:p>
            <a:fld id="{3655B709-D27D-480D-9491-2806B8643D20}" type="slidenum">
              <a:rPr lang="zh-TW" altLang="en-US" smtClean="0"/>
              <a:t>‹#›</a:t>
            </a:fld>
            <a:endParaRPr lang="zh-TW" altLang="en-US"/>
          </a:p>
        </p:txBody>
      </p:sp>
    </p:spTree>
    <p:extLst>
      <p:ext uri="{BB962C8B-B14F-4D97-AF65-F5344CB8AC3E}">
        <p14:creationId xmlns:p14="http://schemas.microsoft.com/office/powerpoint/2010/main" val="1197859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252EE7-EF19-4490-BE86-15D74BA94FCA}"/>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C21C755A-04D2-4C07-8484-060345B7B739}"/>
              </a:ext>
            </a:extLst>
          </p:cNvPr>
          <p:cNvSpPr>
            <a:spLocks noGrp="1"/>
          </p:cNvSpPr>
          <p:nvPr>
            <p:ph type="dt" sz="half" idx="10"/>
          </p:nvPr>
        </p:nvSpPr>
        <p:spPr/>
        <p:txBody>
          <a:bodyPr/>
          <a:lstStyle/>
          <a:p>
            <a:fld id="{A49E8508-FC05-4DC5-A45A-F6C201974417}" type="datetimeFigureOut">
              <a:rPr lang="zh-TW" altLang="en-US" smtClean="0"/>
              <a:t>2026/5/14</a:t>
            </a:fld>
            <a:endParaRPr lang="zh-TW" altLang="en-US"/>
          </a:p>
        </p:txBody>
      </p:sp>
      <p:sp>
        <p:nvSpPr>
          <p:cNvPr id="4" name="頁尾版面配置區 3">
            <a:extLst>
              <a:ext uri="{FF2B5EF4-FFF2-40B4-BE49-F238E27FC236}">
                <a16:creationId xmlns:a16="http://schemas.microsoft.com/office/drawing/2014/main" id="{86B29A82-9B1D-4A9B-8906-D520DDBA323F}"/>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2FA88B0-92B6-4F61-A4F3-14F4BBA7C91F}"/>
              </a:ext>
            </a:extLst>
          </p:cNvPr>
          <p:cNvSpPr>
            <a:spLocks noGrp="1"/>
          </p:cNvSpPr>
          <p:nvPr>
            <p:ph type="sldNum" sz="quarter" idx="12"/>
          </p:nvPr>
        </p:nvSpPr>
        <p:spPr/>
        <p:txBody>
          <a:bodyPr/>
          <a:lstStyle/>
          <a:p>
            <a:fld id="{3655B709-D27D-480D-9491-2806B8643D20}" type="slidenum">
              <a:rPr lang="zh-TW" altLang="en-US" smtClean="0"/>
              <a:t>‹#›</a:t>
            </a:fld>
            <a:endParaRPr lang="zh-TW" altLang="en-US"/>
          </a:p>
        </p:txBody>
      </p:sp>
    </p:spTree>
    <p:extLst>
      <p:ext uri="{BB962C8B-B14F-4D97-AF65-F5344CB8AC3E}">
        <p14:creationId xmlns:p14="http://schemas.microsoft.com/office/powerpoint/2010/main" val="3384294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8A4F181-7AD2-45F2-8DA3-1B9866193557}"/>
              </a:ext>
            </a:extLst>
          </p:cNvPr>
          <p:cNvSpPr>
            <a:spLocks noGrp="1"/>
          </p:cNvSpPr>
          <p:nvPr>
            <p:ph type="dt" sz="half" idx="10"/>
          </p:nvPr>
        </p:nvSpPr>
        <p:spPr/>
        <p:txBody>
          <a:bodyPr/>
          <a:lstStyle/>
          <a:p>
            <a:fld id="{A49E8508-FC05-4DC5-A45A-F6C201974417}" type="datetimeFigureOut">
              <a:rPr lang="zh-TW" altLang="en-US" smtClean="0"/>
              <a:t>2026/5/14</a:t>
            </a:fld>
            <a:endParaRPr lang="zh-TW" altLang="en-US"/>
          </a:p>
        </p:txBody>
      </p:sp>
      <p:sp>
        <p:nvSpPr>
          <p:cNvPr id="3" name="頁尾版面配置區 2">
            <a:extLst>
              <a:ext uri="{FF2B5EF4-FFF2-40B4-BE49-F238E27FC236}">
                <a16:creationId xmlns:a16="http://schemas.microsoft.com/office/drawing/2014/main" id="{3DCE28BB-25C5-4C8A-BA14-E78389B53F4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26FD4F3B-E7AE-47DD-A7FD-6C9643CBC5E5}"/>
              </a:ext>
            </a:extLst>
          </p:cNvPr>
          <p:cNvSpPr>
            <a:spLocks noGrp="1"/>
          </p:cNvSpPr>
          <p:nvPr>
            <p:ph type="sldNum" sz="quarter" idx="12"/>
          </p:nvPr>
        </p:nvSpPr>
        <p:spPr/>
        <p:txBody>
          <a:bodyPr/>
          <a:lstStyle/>
          <a:p>
            <a:fld id="{3655B709-D27D-480D-9491-2806B8643D20}" type="slidenum">
              <a:rPr lang="zh-TW" altLang="en-US" smtClean="0"/>
              <a:t>‹#›</a:t>
            </a:fld>
            <a:endParaRPr lang="zh-TW" altLang="en-US"/>
          </a:p>
        </p:txBody>
      </p:sp>
    </p:spTree>
    <p:extLst>
      <p:ext uri="{BB962C8B-B14F-4D97-AF65-F5344CB8AC3E}">
        <p14:creationId xmlns:p14="http://schemas.microsoft.com/office/powerpoint/2010/main" val="1714252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31E451-6490-4CFB-83C1-7C08CFC47CB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3B10207-41BC-4F78-8FCD-3578FEC44E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EED0B25-10AF-4E15-B3AD-82F922786F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1322311-1A96-444F-B6D3-8124B143E7CF}"/>
              </a:ext>
            </a:extLst>
          </p:cNvPr>
          <p:cNvSpPr>
            <a:spLocks noGrp="1"/>
          </p:cNvSpPr>
          <p:nvPr>
            <p:ph type="dt" sz="half" idx="10"/>
          </p:nvPr>
        </p:nvSpPr>
        <p:spPr/>
        <p:txBody>
          <a:bodyPr/>
          <a:lstStyle/>
          <a:p>
            <a:fld id="{A49E8508-FC05-4DC5-A45A-F6C201974417}" type="datetimeFigureOut">
              <a:rPr lang="zh-TW" altLang="en-US" smtClean="0"/>
              <a:t>2026/5/14</a:t>
            </a:fld>
            <a:endParaRPr lang="zh-TW" altLang="en-US"/>
          </a:p>
        </p:txBody>
      </p:sp>
      <p:sp>
        <p:nvSpPr>
          <p:cNvPr id="6" name="頁尾版面配置區 5">
            <a:extLst>
              <a:ext uri="{FF2B5EF4-FFF2-40B4-BE49-F238E27FC236}">
                <a16:creationId xmlns:a16="http://schemas.microsoft.com/office/drawing/2014/main" id="{BB005760-BFEA-48DB-8DED-6E18BB9A56D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F28DF56-26B7-4070-8566-93A902C22D7D}"/>
              </a:ext>
            </a:extLst>
          </p:cNvPr>
          <p:cNvSpPr>
            <a:spLocks noGrp="1"/>
          </p:cNvSpPr>
          <p:nvPr>
            <p:ph type="sldNum" sz="quarter" idx="12"/>
          </p:nvPr>
        </p:nvSpPr>
        <p:spPr/>
        <p:txBody>
          <a:bodyPr/>
          <a:lstStyle/>
          <a:p>
            <a:fld id="{3655B709-D27D-480D-9491-2806B8643D20}" type="slidenum">
              <a:rPr lang="zh-TW" altLang="en-US" smtClean="0"/>
              <a:t>‹#›</a:t>
            </a:fld>
            <a:endParaRPr lang="zh-TW" altLang="en-US"/>
          </a:p>
        </p:txBody>
      </p:sp>
    </p:spTree>
    <p:extLst>
      <p:ext uri="{BB962C8B-B14F-4D97-AF65-F5344CB8AC3E}">
        <p14:creationId xmlns:p14="http://schemas.microsoft.com/office/powerpoint/2010/main" val="2414699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B0CF20-24CE-4F1C-B51A-5CE4EEA8A64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AC24664-38F2-42B0-A095-88CBAA1555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59C9496E-5C51-4336-B6AF-A297823B2A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92D428BB-1913-4FFF-A7DB-EB5381299640}"/>
              </a:ext>
            </a:extLst>
          </p:cNvPr>
          <p:cNvSpPr>
            <a:spLocks noGrp="1"/>
          </p:cNvSpPr>
          <p:nvPr>
            <p:ph type="dt" sz="half" idx="10"/>
          </p:nvPr>
        </p:nvSpPr>
        <p:spPr/>
        <p:txBody>
          <a:bodyPr/>
          <a:lstStyle/>
          <a:p>
            <a:fld id="{A49E8508-FC05-4DC5-A45A-F6C201974417}" type="datetimeFigureOut">
              <a:rPr lang="zh-TW" altLang="en-US" smtClean="0"/>
              <a:t>2026/5/14</a:t>
            </a:fld>
            <a:endParaRPr lang="zh-TW" altLang="en-US"/>
          </a:p>
        </p:txBody>
      </p:sp>
      <p:sp>
        <p:nvSpPr>
          <p:cNvPr id="6" name="頁尾版面配置區 5">
            <a:extLst>
              <a:ext uri="{FF2B5EF4-FFF2-40B4-BE49-F238E27FC236}">
                <a16:creationId xmlns:a16="http://schemas.microsoft.com/office/drawing/2014/main" id="{D408F71C-BD0A-4EFA-9A2C-3EE3A54344F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53E3592-1FF9-409F-9E3B-85F43D3E472C}"/>
              </a:ext>
            </a:extLst>
          </p:cNvPr>
          <p:cNvSpPr>
            <a:spLocks noGrp="1"/>
          </p:cNvSpPr>
          <p:nvPr>
            <p:ph type="sldNum" sz="quarter" idx="12"/>
          </p:nvPr>
        </p:nvSpPr>
        <p:spPr/>
        <p:txBody>
          <a:bodyPr/>
          <a:lstStyle/>
          <a:p>
            <a:fld id="{3655B709-D27D-480D-9491-2806B8643D20}" type="slidenum">
              <a:rPr lang="zh-TW" altLang="en-US" smtClean="0"/>
              <a:t>‹#›</a:t>
            </a:fld>
            <a:endParaRPr lang="zh-TW" altLang="en-US"/>
          </a:p>
        </p:txBody>
      </p:sp>
    </p:spTree>
    <p:extLst>
      <p:ext uri="{BB962C8B-B14F-4D97-AF65-F5344CB8AC3E}">
        <p14:creationId xmlns:p14="http://schemas.microsoft.com/office/powerpoint/2010/main" val="3206917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543154-0FB0-4F40-AF14-D0D40DCCA667}"/>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49CA741B-9ABD-40FB-8982-C02367D872E5}"/>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AB13C66-25BC-4E10-8E02-7CEE23C7481E}"/>
              </a:ext>
            </a:extLst>
          </p:cNvPr>
          <p:cNvSpPr>
            <a:spLocks noGrp="1"/>
          </p:cNvSpPr>
          <p:nvPr>
            <p:ph type="dt" sz="half" idx="10"/>
          </p:nvPr>
        </p:nvSpPr>
        <p:spPr/>
        <p:txBody>
          <a:bodyPr/>
          <a:lstStyle/>
          <a:p>
            <a:fld id="{A49E8508-FC05-4DC5-A45A-F6C201974417}" type="datetimeFigureOut">
              <a:rPr lang="zh-TW" altLang="en-US" smtClean="0"/>
              <a:t>2026/5/14</a:t>
            </a:fld>
            <a:endParaRPr lang="zh-TW" altLang="en-US"/>
          </a:p>
        </p:txBody>
      </p:sp>
      <p:sp>
        <p:nvSpPr>
          <p:cNvPr id="5" name="頁尾版面配置區 4">
            <a:extLst>
              <a:ext uri="{FF2B5EF4-FFF2-40B4-BE49-F238E27FC236}">
                <a16:creationId xmlns:a16="http://schemas.microsoft.com/office/drawing/2014/main" id="{D4C6D207-3571-4883-B3CE-17B267ECA1D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F52B751-5F7A-4A49-A9EA-BBC83818C9B2}"/>
              </a:ext>
            </a:extLst>
          </p:cNvPr>
          <p:cNvSpPr>
            <a:spLocks noGrp="1"/>
          </p:cNvSpPr>
          <p:nvPr>
            <p:ph type="sldNum" sz="quarter" idx="12"/>
          </p:nvPr>
        </p:nvSpPr>
        <p:spPr/>
        <p:txBody>
          <a:bodyPr/>
          <a:lstStyle/>
          <a:p>
            <a:fld id="{3655B709-D27D-480D-9491-2806B8643D20}" type="slidenum">
              <a:rPr lang="zh-TW" altLang="en-US" smtClean="0"/>
              <a:t>‹#›</a:t>
            </a:fld>
            <a:endParaRPr lang="zh-TW" altLang="en-US"/>
          </a:p>
        </p:txBody>
      </p:sp>
    </p:spTree>
    <p:extLst>
      <p:ext uri="{BB962C8B-B14F-4D97-AF65-F5344CB8AC3E}">
        <p14:creationId xmlns:p14="http://schemas.microsoft.com/office/powerpoint/2010/main" val="3988352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F4581D3-C538-46C6-8544-528144C539E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16C997F-373A-48B8-AC5E-15EA285572B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69BA5B8-9B8D-4611-AADA-E564A2B8C9CF}"/>
              </a:ext>
            </a:extLst>
          </p:cNvPr>
          <p:cNvSpPr>
            <a:spLocks noGrp="1"/>
          </p:cNvSpPr>
          <p:nvPr>
            <p:ph type="dt" sz="half" idx="10"/>
          </p:nvPr>
        </p:nvSpPr>
        <p:spPr/>
        <p:txBody>
          <a:bodyPr/>
          <a:lstStyle/>
          <a:p>
            <a:fld id="{A49E8508-FC05-4DC5-A45A-F6C201974417}" type="datetimeFigureOut">
              <a:rPr lang="zh-TW" altLang="en-US" smtClean="0"/>
              <a:t>2026/5/14</a:t>
            </a:fld>
            <a:endParaRPr lang="zh-TW" altLang="en-US"/>
          </a:p>
        </p:txBody>
      </p:sp>
      <p:sp>
        <p:nvSpPr>
          <p:cNvPr id="5" name="頁尾版面配置區 4">
            <a:extLst>
              <a:ext uri="{FF2B5EF4-FFF2-40B4-BE49-F238E27FC236}">
                <a16:creationId xmlns:a16="http://schemas.microsoft.com/office/drawing/2014/main" id="{01F6857A-CFE3-4ABA-9899-7330F103C0C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C49AC71-1224-4301-BA88-97C5DA73147E}"/>
              </a:ext>
            </a:extLst>
          </p:cNvPr>
          <p:cNvSpPr>
            <a:spLocks noGrp="1"/>
          </p:cNvSpPr>
          <p:nvPr>
            <p:ph type="sldNum" sz="quarter" idx="12"/>
          </p:nvPr>
        </p:nvSpPr>
        <p:spPr/>
        <p:txBody>
          <a:bodyPr/>
          <a:lstStyle/>
          <a:p>
            <a:fld id="{3655B709-D27D-480D-9491-2806B8643D20}" type="slidenum">
              <a:rPr lang="zh-TW" altLang="en-US" smtClean="0"/>
              <a:t>‹#›</a:t>
            </a:fld>
            <a:endParaRPr lang="zh-TW" altLang="en-US"/>
          </a:p>
        </p:txBody>
      </p:sp>
    </p:spTree>
    <p:extLst>
      <p:ext uri="{BB962C8B-B14F-4D97-AF65-F5344CB8AC3E}">
        <p14:creationId xmlns:p14="http://schemas.microsoft.com/office/powerpoint/2010/main" val="1008450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4A7446E-4B64-4D51-A793-9063602F9D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0F3F8B5-E868-4B56-B808-49C510988A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68E2FE9-3D04-4E5F-975F-29949190A4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9E8508-FC05-4DC5-A45A-F6C201974417}" type="datetimeFigureOut">
              <a:rPr lang="zh-TW" altLang="en-US" smtClean="0"/>
              <a:t>2026/5/14</a:t>
            </a:fld>
            <a:endParaRPr lang="zh-TW" altLang="en-US"/>
          </a:p>
        </p:txBody>
      </p:sp>
      <p:sp>
        <p:nvSpPr>
          <p:cNvPr id="5" name="頁尾版面配置區 4">
            <a:extLst>
              <a:ext uri="{FF2B5EF4-FFF2-40B4-BE49-F238E27FC236}">
                <a16:creationId xmlns:a16="http://schemas.microsoft.com/office/drawing/2014/main" id="{336F9374-B193-4FB3-BCA4-7453917F30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1A618BA5-CD77-4ADE-BFC8-76473EE42A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55B709-D27D-480D-9491-2806B8643D20}" type="slidenum">
              <a:rPr lang="zh-TW" altLang="en-US" smtClean="0"/>
              <a:t>‹#›</a:t>
            </a:fld>
            <a:endParaRPr lang="zh-TW" altLang="en-US"/>
          </a:p>
        </p:txBody>
      </p:sp>
    </p:spTree>
    <p:extLst>
      <p:ext uri="{BB962C8B-B14F-4D97-AF65-F5344CB8AC3E}">
        <p14:creationId xmlns:p14="http://schemas.microsoft.com/office/powerpoint/2010/main" val="220220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image" Target="../media/image28.tmp"/><Relationship Id="rId1" Type="http://schemas.openxmlformats.org/officeDocument/2006/relationships/slideLayout" Target="../slideLayouts/slideLayout2.xml"/><Relationship Id="rId4" Type="http://schemas.openxmlformats.org/officeDocument/2006/relationships/image" Target="../media/image30.tmp"/></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image" Target="../media/image34.tmp"/><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tmp"/><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1.png"/><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42.png"/></Relationships>
</file>

<file path=ppt/slides/_rels/slide50.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7FA8F3CE-4BD9-0B4C-9C0B-D3490E7AB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0429"/>
            <a:ext cx="12192000" cy="4597141"/>
          </a:xfrm>
          <a:prstGeom prst="rect">
            <a:avLst/>
          </a:prstGeom>
        </p:spPr>
      </p:pic>
      <p:sp>
        <p:nvSpPr>
          <p:cNvPr id="6" name="橢圓 5">
            <a:extLst>
              <a:ext uri="{FF2B5EF4-FFF2-40B4-BE49-F238E27FC236}">
                <a16:creationId xmlns:a16="http://schemas.microsoft.com/office/drawing/2014/main" id="{1DB5B348-A592-425E-8DFC-0FCE3343D3FD}"/>
              </a:ext>
            </a:extLst>
          </p:cNvPr>
          <p:cNvSpPr/>
          <p:nvPr/>
        </p:nvSpPr>
        <p:spPr>
          <a:xfrm>
            <a:off x="700659" y="2481847"/>
            <a:ext cx="1575790" cy="49786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17393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a:t>
            </a:r>
            <a:r>
              <a:rPr kumimoji="1" lang="en-US" altLang="zh-TW" dirty="0"/>
              <a:t>2</a:t>
            </a:r>
            <a:r>
              <a:rPr kumimoji="1" lang="en-US" altLang="zh-HK" dirty="0"/>
              <a:t>– 1</a:t>
            </a:r>
            <a:r>
              <a:rPr kumimoji="1" lang="en-US" altLang="zh-TW" dirty="0"/>
              <a:t>3</a:t>
            </a:r>
            <a:r>
              <a:rPr kumimoji="1" lang="en-US" altLang="zh-HK" dirty="0"/>
              <a:t>.10a(12)</a:t>
            </a:r>
            <a:endParaRPr kumimoji="1" lang="zh-HK" altLang="en-US" dirty="0"/>
          </a:p>
        </p:txBody>
      </p:sp>
      <p:pic>
        <p:nvPicPr>
          <p:cNvPr id="4" name="圖片 3">
            <a:extLst>
              <a:ext uri="{FF2B5EF4-FFF2-40B4-BE49-F238E27FC236}">
                <a16:creationId xmlns:a16="http://schemas.microsoft.com/office/drawing/2014/main" id="{360B9544-5506-9C41-8520-26DD6600BB4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160274" y="1393444"/>
            <a:ext cx="11947776" cy="1752092"/>
          </a:xfrm>
          <a:prstGeom prst="rect">
            <a:avLst/>
          </a:prstGeom>
        </p:spPr>
      </p:pic>
    </p:spTree>
    <p:extLst>
      <p:ext uri="{BB962C8B-B14F-4D97-AF65-F5344CB8AC3E}">
        <p14:creationId xmlns:p14="http://schemas.microsoft.com/office/powerpoint/2010/main" val="888971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a:t>
            </a:r>
            <a:r>
              <a:rPr kumimoji="1" lang="en-US" altLang="zh-TW" dirty="0"/>
              <a:t>2</a:t>
            </a:r>
            <a:r>
              <a:rPr kumimoji="1" lang="en-US" altLang="zh-HK" dirty="0"/>
              <a:t>– 1</a:t>
            </a:r>
            <a:r>
              <a:rPr kumimoji="1" lang="en-US" altLang="zh-TW" dirty="0"/>
              <a:t>3</a:t>
            </a:r>
            <a:r>
              <a:rPr kumimoji="1" lang="en-US" altLang="zh-HK" dirty="0"/>
              <a:t>.10a(12)</a:t>
            </a:r>
            <a:endParaRPr kumimoji="1" lang="zh-HK" altLang="en-US" dirty="0"/>
          </a:p>
        </p:txBody>
      </p:sp>
      <p:pic>
        <p:nvPicPr>
          <p:cNvPr id="5" name="圖片 4" descr="一張含有 文字 的圖片&#10;&#10;自動產生的描述">
            <a:extLst>
              <a:ext uri="{FF2B5EF4-FFF2-40B4-BE49-F238E27FC236}">
                <a16:creationId xmlns:a16="http://schemas.microsoft.com/office/drawing/2014/main" id="{36BE3973-95CE-7C4B-9AC9-16CE324E25B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450850" y="1196274"/>
            <a:ext cx="11290300" cy="2565400"/>
          </a:xfrm>
          <a:prstGeom prst="rect">
            <a:avLst/>
          </a:prstGeom>
          <a:ln>
            <a:solidFill>
              <a:schemeClr val="tx1"/>
            </a:solidFill>
          </a:ln>
        </p:spPr>
      </p:pic>
    </p:spTree>
    <p:extLst>
      <p:ext uri="{BB962C8B-B14F-4D97-AF65-F5344CB8AC3E}">
        <p14:creationId xmlns:p14="http://schemas.microsoft.com/office/powerpoint/2010/main" val="917353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a:t>
            </a:r>
            <a:r>
              <a:rPr kumimoji="1" lang="en-US" altLang="zh-TW" dirty="0"/>
              <a:t>2</a:t>
            </a:r>
            <a:r>
              <a:rPr kumimoji="1" lang="en-US" altLang="zh-HK" dirty="0"/>
              <a:t>– 1</a:t>
            </a:r>
            <a:r>
              <a:rPr kumimoji="1" lang="en-US" altLang="zh-TW" dirty="0"/>
              <a:t>3</a:t>
            </a:r>
            <a:r>
              <a:rPr kumimoji="1" lang="en-US" altLang="zh-HK" dirty="0"/>
              <a:t>.10a(12)</a:t>
            </a:r>
            <a:endParaRPr kumimoji="1" lang="zh-HK" altLang="en-US" dirty="0"/>
          </a:p>
        </p:txBody>
      </p:sp>
      <p:pic>
        <p:nvPicPr>
          <p:cNvPr id="4" name="圖片 3" descr="一張含有 文字 的圖片&#10;&#10;自動產生的描述">
            <a:extLst>
              <a:ext uri="{FF2B5EF4-FFF2-40B4-BE49-F238E27FC236}">
                <a16:creationId xmlns:a16="http://schemas.microsoft.com/office/drawing/2014/main" id="{84B77599-466F-4682-BE4E-9772C9FBCC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869" y="617518"/>
            <a:ext cx="7668695" cy="3029373"/>
          </a:xfrm>
          <a:prstGeom prst="rect">
            <a:avLst/>
          </a:prstGeom>
        </p:spPr>
      </p:pic>
      <p:pic>
        <p:nvPicPr>
          <p:cNvPr id="7" name="圖片 6" descr="一張含有 文字 的圖片&#10;&#10;自動產生的描述">
            <a:extLst>
              <a:ext uri="{FF2B5EF4-FFF2-40B4-BE49-F238E27FC236}">
                <a16:creationId xmlns:a16="http://schemas.microsoft.com/office/drawing/2014/main" id="{3EED8500-A732-45E0-87C1-BB59320681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014" y="4059846"/>
            <a:ext cx="7497221" cy="2495898"/>
          </a:xfrm>
          <a:prstGeom prst="rect">
            <a:avLst/>
          </a:prstGeom>
        </p:spPr>
      </p:pic>
    </p:spTree>
    <p:extLst>
      <p:ext uri="{BB962C8B-B14F-4D97-AF65-F5344CB8AC3E}">
        <p14:creationId xmlns:p14="http://schemas.microsoft.com/office/powerpoint/2010/main" val="1515589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a:t>
            </a:r>
            <a:r>
              <a:rPr kumimoji="1" lang="en-US" altLang="zh-TW" dirty="0"/>
              <a:t>2</a:t>
            </a:r>
            <a:r>
              <a:rPr kumimoji="1" lang="en-US" altLang="zh-HK" dirty="0"/>
              <a:t>– 1</a:t>
            </a:r>
            <a:r>
              <a:rPr kumimoji="1" lang="en-US" altLang="zh-TW" dirty="0"/>
              <a:t>3</a:t>
            </a:r>
            <a:r>
              <a:rPr kumimoji="1" lang="en-US" altLang="zh-HK" dirty="0"/>
              <a:t>.10a(12)</a:t>
            </a:r>
            <a:endParaRPr kumimoji="1" lang="zh-HK" altLang="en-US" dirty="0"/>
          </a:p>
        </p:txBody>
      </p:sp>
      <p:pic>
        <p:nvPicPr>
          <p:cNvPr id="8" name="圖片 7" descr="一張含有 文字 的圖片&#10;&#10;自動產生的描述">
            <a:extLst>
              <a:ext uri="{FF2B5EF4-FFF2-40B4-BE49-F238E27FC236}">
                <a16:creationId xmlns:a16="http://schemas.microsoft.com/office/drawing/2014/main" id="{F2EE7839-1964-4A4D-8F76-CC20E4CA0E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300" y="617518"/>
            <a:ext cx="8994999" cy="2542841"/>
          </a:xfrm>
          <a:prstGeom prst="rect">
            <a:avLst/>
          </a:prstGeom>
        </p:spPr>
      </p:pic>
      <p:pic>
        <p:nvPicPr>
          <p:cNvPr id="10" name="圖片 9">
            <a:extLst>
              <a:ext uri="{FF2B5EF4-FFF2-40B4-BE49-F238E27FC236}">
                <a16:creationId xmlns:a16="http://schemas.microsoft.com/office/drawing/2014/main" id="{F47189D4-2126-42B5-966A-59DB9BFB04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300" y="3759620"/>
            <a:ext cx="8890334" cy="1712031"/>
          </a:xfrm>
          <a:prstGeom prst="rect">
            <a:avLst/>
          </a:prstGeom>
        </p:spPr>
      </p:pic>
    </p:spTree>
    <p:extLst>
      <p:ext uri="{BB962C8B-B14F-4D97-AF65-F5344CB8AC3E}">
        <p14:creationId xmlns:p14="http://schemas.microsoft.com/office/powerpoint/2010/main" val="1978446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7FA8F3CE-4BD9-0B4C-9C0B-D3490E7AB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0429"/>
            <a:ext cx="12192000" cy="4597141"/>
          </a:xfrm>
          <a:prstGeom prst="rect">
            <a:avLst/>
          </a:prstGeom>
        </p:spPr>
      </p:pic>
      <p:sp>
        <p:nvSpPr>
          <p:cNvPr id="6" name="橢圓 5">
            <a:extLst>
              <a:ext uri="{FF2B5EF4-FFF2-40B4-BE49-F238E27FC236}">
                <a16:creationId xmlns:a16="http://schemas.microsoft.com/office/drawing/2014/main" id="{1DB5B348-A592-425E-8DFC-0FCE3343D3FD}"/>
              </a:ext>
            </a:extLst>
          </p:cNvPr>
          <p:cNvSpPr/>
          <p:nvPr/>
        </p:nvSpPr>
        <p:spPr>
          <a:xfrm>
            <a:off x="700659" y="3265618"/>
            <a:ext cx="1575790" cy="49786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78685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a:t>
            </a:r>
            <a:r>
              <a:rPr kumimoji="1" lang="en-US" altLang="zh-TW" dirty="0"/>
              <a:t>2</a:t>
            </a:r>
            <a:r>
              <a:rPr kumimoji="1" lang="en-US" altLang="zh-HK" dirty="0"/>
              <a:t>– 15.7d(4)</a:t>
            </a:r>
            <a:endParaRPr kumimoji="1" lang="zh-HK" altLang="en-US" dirty="0"/>
          </a:p>
        </p:txBody>
      </p:sp>
      <p:pic>
        <p:nvPicPr>
          <p:cNvPr id="5" name="圖片 4" descr="一張含有 文字 的圖片&#10;&#10;自動產生的描述">
            <a:extLst>
              <a:ext uri="{FF2B5EF4-FFF2-40B4-BE49-F238E27FC236}">
                <a16:creationId xmlns:a16="http://schemas.microsoft.com/office/drawing/2014/main" id="{5D1362EC-B781-304C-B970-B942546CE03B}"/>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3000" contrast="94000"/>
                    </a14:imgEffect>
                  </a14:imgLayer>
                </a14:imgProps>
              </a:ext>
              <a:ext uri="{28A0092B-C50C-407E-A947-70E740481C1C}">
                <a14:useLocalDpi xmlns:a14="http://schemas.microsoft.com/office/drawing/2010/main" val="0"/>
              </a:ext>
            </a:extLst>
          </a:blip>
          <a:srcRect b="87321"/>
          <a:stretch/>
        </p:blipFill>
        <p:spPr>
          <a:xfrm>
            <a:off x="3106263" y="135426"/>
            <a:ext cx="8820585" cy="964631"/>
          </a:xfrm>
          <a:prstGeom prst="rect">
            <a:avLst/>
          </a:prstGeom>
        </p:spPr>
      </p:pic>
      <p:pic>
        <p:nvPicPr>
          <p:cNvPr id="8" name="圖片 7">
            <a:extLst>
              <a:ext uri="{FF2B5EF4-FFF2-40B4-BE49-F238E27FC236}">
                <a16:creationId xmlns:a16="http://schemas.microsoft.com/office/drawing/2014/main" id="{C60E7955-B24D-634D-B697-482DA8034285}"/>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35000" contrast="100000"/>
                    </a14:imgEffect>
                  </a14:imgLayer>
                </a14:imgProps>
              </a:ext>
              <a:ext uri="{28A0092B-C50C-407E-A947-70E740481C1C}">
                <a14:useLocalDpi xmlns:a14="http://schemas.microsoft.com/office/drawing/2010/main" val="0"/>
              </a:ext>
            </a:extLst>
          </a:blip>
          <a:stretch>
            <a:fillRect/>
          </a:stretch>
        </p:blipFill>
        <p:spPr>
          <a:xfrm>
            <a:off x="205027" y="5360239"/>
            <a:ext cx="11781946" cy="1054608"/>
          </a:xfrm>
          <a:prstGeom prst="rect">
            <a:avLst/>
          </a:prstGeom>
          <a:ln>
            <a:solidFill>
              <a:schemeClr val="tx1"/>
            </a:solidFill>
          </a:ln>
        </p:spPr>
      </p:pic>
      <p:pic>
        <p:nvPicPr>
          <p:cNvPr id="6" name="圖片 5" descr="一張含有 文字 的圖片&#10;&#10;自動產生的描述">
            <a:extLst>
              <a:ext uri="{FF2B5EF4-FFF2-40B4-BE49-F238E27FC236}">
                <a16:creationId xmlns:a16="http://schemas.microsoft.com/office/drawing/2014/main" id="{3AAF24F6-DD79-6B40-9E30-A9306AC811B3}"/>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3000" contrast="94000"/>
                    </a14:imgEffect>
                  </a14:imgLayer>
                </a14:imgProps>
              </a:ext>
              <a:ext uri="{28A0092B-C50C-407E-A947-70E740481C1C}">
                <a14:useLocalDpi xmlns:a14="http://schemas.microsoft.com/office/drawing/2010/main" val="0"/>
              </a:ext>
            </a:extLst>
          </a:blip>
          <a:srcRect t="44864"/>
          <a:stretch/>
        </p:blipFill>
        <p:spPr>
          <a:xfrm>
            <a:off x="3130647" y="828428"/>
            <a:ext cx="8820580" cy="4194676"/>
          </a:xfrm>
          <a:prstGeom prst="rect">
            <a:avLst/>
          </a:prstGeom>
        </p:spPr>
      </p:pic>
    </p:spTree>
    <p:extLst>
      <p:ext uri="{BB962C8B-B14F-4D97-AF65-F5344CB8AC3E}">
        <p14:creationId xmlns:p14="http://schemas.microsoft.com/office/powerpoint/2010/main" val="2048610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a:t>
            </a:r>
            <a:r>
              <a:rPr kumimoji="1" lang="en-US" altLang="zh-TW" dirty="0"/>
              <a:t>2</a:t>
            </a:r>
            <a:r>
              <a:rPr kumimoji="1" lang="en-US" altLang="zh-HK" dirty="0"/>
              <a:t>– 15.7d(4)</a:t>
            </a:r>
            <a:endParaRPr kumimoji="1" lang="zh-HK" altLang="en-US" dirty="0"/>
          </a:p>
        </p:txBody>
      </p:sp>
      <p:pic>
        <p:nvPicPr>
          <p:cNvPr id="4" name="圖片 3">
            <a:extLst>
              <a:ext uri="{FF2B5EF4-FFF2-40B4-BE49-F238E27FC236}">
                <a16:creationId xmlns:a16="http://schemas.microsoft.com/office/drawing/2014/main" id="{3BD6CCC9-F3DF-E64C-B0B0-645C97203CF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39000" contrast="100000"/>
                    </a14:imgEffect>
                  </a14:imgLayer>
                </a14:imgProps>
              </a:ext>
              <a:ext uri="{28A0092B-C50C-407E-A947-70E740481C1C}">
                <a14:useLocalDpi xmlns:a14="http://schemas.microsoft.com/office/drawing/2010/main" val="0"/>
              </a:ext>
            </a:extLst>
          </a:blip>
          <a:stretch>
            <a:fillRect/>
          </a:stretch>
        </p:blipFill>
        <p:spPr>
          <a:xfrm>
            <a:off x="380999" y="995470"/>
            <a:ext cx="11132141" cy="2162258"/>
          </a:xfrm>
          <a:prstGeom prst="rect">
            <a:avLst/>
          </a:prstGeom>
          <a:ln>
            <a:solidFill>
              <a:schemeClr val="tx1"/>
            </a:solidFill>
          </a:ln>
        </p:spPr>
      </p:pic>
    </p:spTree>
    <p:extLst>
      <p:ext uri="{BB962C8B-B14F-4D97-AF65-F5344CB8AC3E}">
        <p14:creationId xmlns:p14="http://schemas.microsoft.com/office/powerpoint/2010/main" val="4175657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7FA8F3CE-4BD9-0B4C-9C0B-D3490E7AB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0429"/>
            <a:ext cx="12192000" cy="4597141"/>
          </a:xfrm>
          <a:prstGeom prst="rect">
            <a:avLst/>
          </a:prstGeom>
        </p:spPr>
      </p:pic>
      <p:sp>
        <p:nvSpPr>
          <p:cNvPr id="6" name="橢圓 5">
            <a:extLst>
              <a:ext uri="{FF2B5EF4-FFF2-40B4-BE49-F238E27FC236}">
                <a16:creationId xmlns:a16="http://schemas.microsoft.com/office/drawing/2014/main" id="{1DB5B348-A592-425E-8DFC-0FCE3343D3FD}"/>
              </a:ext>
            </a:extLst>
          </p:cNvPr>
          <p:cNvSpPr/>
          <p:nvPr/>
        </p:nvSpPr>
        <p:spPr>
          <a:xfrm>
            <a:off x="641283" y="3598127"/>
            <a:ext cx="1575790" cy="49786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156746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descr="一張含有 文字 的圖片&#10;&#10;自動產生的描述">
            <a:extLst>
              <a:ext uri="{FF2B5EF4-FFF2-40B4-BE49-F238E27FC236}">
                <a16:creationId xmlns:a16="http://schemas.microsoft.com/office/drawing/2014/main" id="{4F57567E-0B5F-CD45-A8BD-257DE4A52A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2944" y="18256"/>
            <a:ext cx="8269732" cy="5757408"/>
          </a:xfrm>
          <a:prstGeom prst="rect">
            <a:avLst/>
          </a:prstGeom>
        </p:spPr>
      </p:pic>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a:t>
            </a:r>
            <a:r>
              <a:rPr kumimoji="1" lang="en-US" altLang="zh-TW" dirty="0"/>
              <a:t>2</a:t>
            </a:r>
            <a:r>
              <a:rPr kumimoji="1" lang="en-US" altLang="zh-HK" dirty="0"/>
              <a:t>– 16.7b(3)</a:t>
            </a:r>
            <a:endParaRPr kumimoji="1" lang="zh-HK" altLang="en-US" dirty="0"/>
          </a:p>
        </p:txBody>
      </p:sp>
      <p:pic>
        <p:nvPicPr>
          <p:cNvPr id="5" name="圖片 4">
            <a:extLst>
              <a:ext uri="{FF2B5EF4-FFF2-40B4-BE49-F238E27FC236}">
                <a16:creationId xmlns:a16="http://schemas.microsoft.com/office/drawing/2014/main" id="{30E96127-0A0C-8A49-92A7-9DC9F639B2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0924" y="5624724"/>
            <a:ext cx="10515600" cy="1040884"/>
          </a:xfrm>
          <a:prstGeom prst="rect">
            <a:avLst/>
          </a:prstGeom>
          <a:ln>
            <a:solidFill>
              <a:schemeClr val="tx1"/>
            </a:solidFill>
          </a:ln>
        </p:spPr>
      </p:pic>
    </p:spTree>
    <p:extLst>
      <p:ext uri="{BB962C8B-B14F-4D97-AF65-F5344CB8AC3E}">
        <p14:creationId xmlns:p14="http://schemas.microsoft.com/office/powerpoint/2010/main" val="389333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a:t>
            </a:r>
            <a:r>
              <a:rPr kumimoji="1" lang="en-US" altLang="zh-TW" dirty="0"/>
              <a:t>2</a:t>
            </a:r>
            <a:r>
              <a:rPr kumimoji="1" lang="en-US" altLang="zh-HK" dirty="0"/>
              <a:t>– 16.7b(4)</a:t>
            </a:r>
            <a:endParaRPr kumimoji="1" lang="zh-HK" altLang="en-US" dirty="0"/>
          </a:p>
        </p:txBody>
      </p:sp>
      <p:pic>
        <p:nvPicPr>
          <p:cNvPr id="4" name="圖片 3">
            <a:extLst>
              <a:ext uri="{FF2B5EF4-FFF2-40B4-BE49-F238E27FC236}">
                <a16:creationId xmlns:a16="http://schemas.microsoft.com/office/drawing/2014/main" id="{8F9D8739-1A99-8640-A10B-DEF1E9C090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199" y="1244599"/>
            <a:ext cx="11583059" cy="2567379"/>
          </a:xfrm>
          <a:prstGeom prst="rect">
            <a:avLst/>
          </a:prstGeom>
          <a:ln>
            <a:solidFill>
              <a:schemeClr val="tx1"/>
            </a:solidFill>
          </a:ln>
        </p:spPr>
      </p:pic>
    </p:spTree>
    <p:extLst>
      <p:ext uri="{BB962C8B-B14F-4D97-AF65-F5344CB8AC3E}">
        <p14:creationId xmlns:p14="http://schemas.microsoft.com/office/powerpoint/2010/main" val="3720999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7FA8F3CE-4BD9-0B4C-9C0B-D3490E7AB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0429"/>
            <a:ext cx="12192000" cy="4597141"/>
          </a:xfrm>
          <a:prstGeom prst="rect">
            <a:avLst/>
          </a:prstGeom>
        </p:spPr>
      </p:pic>
      <p:sp>
        <p:nvSpPr>
          <p:cNvPr id="6" name="橢圓 5">
            <a:extLst>
              <a:ext uri="{FF2B5EF4-FFF2-40B4-BE49-F238E27FC236}">
                <a16:creationId xmlns:a16="http://schemas.microsoft.com/office/drawing/2014/main" id="{1DB5B348-A592-425E-8DFC-0FCE3343D3FD}"/>
              </a:ext>
            </a:extLst>
          </p:cNvPr>
          <p:cNvSpPr/>
          <p:nvPr/>
        </p:nvSpPr>
        <p:spPr>
          <a:xfrm>
            <a:off x="653158" y="3978137"/>
            <a:ext cx="1575790" cy="49786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04528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a:t>
            </a:r>
            <a:r>
              <a:rPr kumimoji="1" lang="en-US" altLang="zh-TW" dirty="0"/>
              <a:t>2</a:t>
            </a:r>
            <a:r>
              <a:rPr kumimoji="1" lang="en-US" altLang="zh-HK" dirty="0"/>
              <a:t>– 17.4(6)</a:t>
            </a:r>
            <a:endParaRPr kumimoji="1" lang="zh-HK" altLang="en-US" dirty="0"/>
          </a:p>
        </p:txBody>
      </p:sp>
      <p:pic>
        <p:nvPicPr>
          <p:cNvPr id="4" name="圖片 3">
            <a:extLst>
              <a:ext uri="{FF2B5EF4-FFF2-40B4-BE49-F238E27FC236}">
                <a16:creationId xmlns:a16="http://schemas.microsoft.com/office/drawing/2014/main" id="{B52D9B47-A3E3-F14F-97F6-A5347C1FDD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368" y="1344056"/>
            <a:ext cx="11773842" cy="1191880"/>
          </a:xfrm>
          <a:prstGeom prst="rect">
            <a:avLst/>
          </a:prstGeom>
        </p:spPr>
      </p:pic>
    </p:spTree>
    <p:extLst>
      <p:ext uri="{BB962C8B-B14F-4D97-AF65-F5344CB8AC3E}">
        <p14:creationId xmlns:p14="http://schemas.microsoft.com/office/powerpoint/2010/main" val="2764658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a:t>
            </a:r>
            <a:r>
              <a:rPr kumimoji="1" lang="en-US" altLang="zh-TW" dirty="0"/>
              <a:t>2</a:t>
            </a:r>
            <a:r>
              <a:rPr kumimoji="1" lang="en-US" altLang="zh-HK" dirty="0"/>
              <a:t>– 17.4(6)</a:t>
            </a:r>
            <a:endParaRPr kumimoji="1" lang="zh-HK" altLang="en-US" dirty="0"/>
          </a:p>
        </p:txBody>
      </p:sp>
      <p:pic>
        <p:nvPicPr>
          <p:cNvPr id="5" name="圖片 4" descr="一張含有 文字 的圖片&#10;&#10;自動產生的描述">
            <a:extLst>
              <a:ext uri="{FF2B5EF4-FFF2-40B4-BE49-F238E27FC236}">
                <a16:creationId xmlns:a16="http://schemas.microsoft.com/office/drawing/2014/main" id="{7A489354-3265-E748-AD98-33559ABDB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26737"/>
            <a:ext cx="12192000" cy="2322286"/>
          </a:xfrm>
          <a:prstGeom prst="rect">
            <a:avLst/>
          </a:prstGeom>
          <a:ln>
            <a:solidFill>
              <a:schemeClr val="tx1"/>
            </a:solidFill>
          </a:ln>
        </p:spPr>
      </p:pic>
    </p:spTree>
    <p:extLst>
      <p:ext uri="{BB962C8B-B14F-4D97-AF65-F5344CB8AC3E}">
        <p14:creationId xmlns:p14="http://schemas.microsoft.com/office/powerpoint/2010/main" val="2074210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7FA8F3CE-4BD9-0B4C-9C0B-D3490E7AB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0429"/>
            <a:ext cx="12192000" cy="4597141"/>
          </a:xfrm>
          <a:prstGeom prst="rect">
            <a:avLst/>
          </a:prstGeom>
        </p:spPr>
      </p:pic>
      <p:sp>
        <p:nvSpPr>
          <p:cNvPr id="6" name="橢圓 5">
            <a:extLst>
              <a:ext uri="{FF2B5EF4-FFF2-40B4-BE49-F238E27FC236}">
                <a16:creationId xmlns:a16="http://schemas.microsoft.com/office/drawing/2014/main" id="{1DB5B348-A592-425E-8DFC-0FCE3343D3FD}"/>
              </a:ext>
            </a:extLst>
          </p:cNvPr>
          <p:cNvSpPr/>
          <p:nvPr/>
        </p:nvSpPr>
        <p:spPr>
          <a:xfrm>
            <a:off x="712534" y="5141919"/>
            <a:ext cx="1575790" cy="49786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47780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a:t>
            </a:r>
            <a:r>
              <a:rPr kumimoji="1" lang="en-US" altLang="zh-TW" dirty="0"/>
              <a:t>2</a:t>
            </a:r>
            <a:r>
              <a:rPr kumimoji="1" lang="en-US" altLang="zh-HK" dirty="0"/>
              <a:t>– 20.7a(10)</a:t>
            </a:r>
            <a:endParaRPr kumimoji="1" lang="zh-HK" altLang="en-US" dirty="0"/>
          </a:p>
        </p:txBody>
      </p:sp>
      <p:pic>
        <p:nvPicPr>
          <p:cNvPr id="5" name="圖片 4" descr="一張含有 文字 的圖片&#10;&#10;自動產生的描述">
            <a:extLst>
              <a:ext uri="{FF2B5EF4-FFF2-40B4-BE49-F238E27FC236}">
                <a16:creationId xmlns:a16="http://schemas.microsoft.com/office/drawing/2014/main" id="{88D8F004-9489-0F44-BCA0-A8456FB3EB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702862"/>
            <a:ext cx="12071369" cy="1967186"/>
          </a:xfrm>
          <a:prstGeom prst="rect">
            <a:avLst/>
          </a:prstGeom>
        </p:spPr>
      </p:pic>
    </p:spTree>
    <p:extLst>
      <p:ext uri="{BB962C8B-B14F-4D97-AF65-F5344CB8AC3E}">
        <p14:creationId xmlns:p14="http://schemas.microsoft.com/office/powerpoint/2010/main" val="1216755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a:t>6</a:t>
            </a:r>
            <a:r>
              <a:rPr kumimoji="1" lang="en-US" altLang="zh-HK"/>
              <a:t>.</a:t>
            </a:r>
            <a:r>
              <a:rPr kumimoji="1" lang="en-US" altLang="zh-TW"/>
              <a:t>2</a:t>
            </a:r>
            <a:r>
              <a:rPr kumimoji="1" lang="en-US" altLang="zh-HK"/>
              <a:t>– 20.7a(10)</a:t>
            </a:r>
            <a:endParaRPr kumimoji="1" lang="zh-HK" altLang="en-US" dirty="0"/>
          </a:p>
        </p:txBody>
      </p:sp>
      <p:pic>
        <p:nvPicPr>
          <p:cNvPr id="4" name="圖片 3" descr="一張含有 桌 的圖片&#10;&#10;自動產生的描述">
            <a:extLst>
              <a:ext uri="{FF2B5EF4-FFF2-40B4-BE49-F238E27FC236}">
                <a16:creationId xmlns:a16="http://schemas.microsoft.com/office/drawing/2014/main" id="{C9B00ADD-F75D-BC41-9F51-6F57889E8D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93732"/>
            <a:ext cx="12130201" cy="4492667"/>
          </a:xfrm>
          <a:prstGeom prst="rect">
            <a:avLst/>
          </a:prstGeom>
        </p:spPr>
      </p:pic>
    </p:spTree>
    <p:extLst>
      <p:ext uri="{BB962C8B-B14F-4D97-AF65-F5344CB8AC3E}">
        <p14:creationId xmlns:p14="http://schemas.microsoft.com/office/powerpoint/2010/main" val="149867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a:t>6</a:t>
            </a:r>
            <a:r>
              <a:rPr kumimoji="1" lang="en-US" altLang="zh-HK"/>
              <a:t>.</a:t>
            </a:r>
            <a:r>
              <a:rPr kumimoji="1" lang="en-US" altLang="zh-TW"/>
              <a:t>2</a:t>
            </a:r>
            <a:r>
              <a:rPr kumimoji="1" lang="en-US" altLang="zh-HK"/>
              <a:t>– 20.7a(10)</a:t>
            </a:r>
            <a:endParaRPr kumimoji="1" lang="zh-HK" altLang="en-US" dirty="0"/>
          </a:p>
        </p:txBody>
      </p:sp>
      <p:pic>
        <p:nvPicPr>
          <p:cNvPr id="5" name="圖片 4">
            <a:extLst>
              <a:ext uri="{FF2B5EF4-FFF2-40B4-BE49-F238E27FC236}">
                <a16:creationId xmlns:a16="http://schemas.microsoft.com/office/drawing/2014/main" id="{D65182B6-A2E8-4951-A095-52F1DC2AD8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423" y="1250873"/>
            <a:ext cx="10809154" cy="23541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33315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a:t>6</a:t>
            </a:r>
            <a:r>
              <a:rPr kumimoji="1" lang="en-US" altLang="zh-HK"/>
              <a:t>.</a:t>
            </a:r>
            <a:r>
              <a:rPr kumimoji="1" lang="en-US" altLang="zh-TW"/>
              <a:t>2</a:t>
            </a:r>
            <a:r>
              <a:rPr kumimoji="1" lang="en-US" altLang="zh-HK"/>
              <a:t>– 20.7a(10)</a:t>
            </a:r>
            <a:endParaRPr kumimoji="1" lang="zh-HK" altLang="en-US" dirty="0"/>
          </a:p>
        </p:txBody>
      </p:sp>
      <p:pic>
        <p:nvPicPr>
          <p:cNvPr id="5" name="圖片 4" descr="一張含有 文字 的圖片&#10;&#10;自動產生的描述">
            <a:extLst>
              <a:ext uri="{FF2B5EF4-FFF2-40B4-BE49-F238E27FC236}">
                <a16:creationId xmlns:a16="http://schemas.microsoft.com/office/drawing/2014/main" id="{140B842A-C3F1-4683-B61D-BD33BC0420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875" y="617518"/>
            <a:ext cx="7701549" cy="3121432"/>
          </a:xfrm>
          <a:prstGeom prst="rect">
            <a:avLst/>
          </a:prstGeom>
        </p:spPr>
      </p:pic>
      <p:pic>
        <p:nvPicPr>
          <p:cNvPr id="7" name="圖片 6" descr="一張含有 文字 的圖片&#10;&#10;自動產生的描述">
            <a:extLst>
              <a:ext uri="{FF2B5EF4-FFF2-40B4-BE49-F238E27FC236}">
                <a16:creationId xmlns:a16="http://schemas.microsoft.com/office/drawing/2014/main" id="{BC1CAEAE-1FA5-46B5-A7B9-E731107605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086" y="3738950"/>
            <a:ext cx="7806338" cy="3016430"/>
          </a:xfrm>
          <a:prstGeom prst="rect">
            <a:avLst/>
          </a:prstGeom>
        </p:spPr>
      </p:pic>
    </p:spTree>
    <p:extLst>
      <p:ext uri="{BB962C8B-B14F-4D97-AF65-F5344CB8AC3E}">
        <p14:creationId xmlns:p14="http://schemas.microsoft.com/office/powerpoint/2010/main" val="1111548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descr="一張含有 文字 的圖片&#10;&#10;自動產生的描述">
            <a:extLst>
              <a:ext uri="{FF2B5EF4-FFF2-40B4-BE49-F238E27FC236}">
                <a16:creationId xmlns:a16="http://schemas.microsoft.com/office/drawing/2014/main" id="{F56391AC-7C86-45B7-8A39-24BEA9952C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356" y="47752"/>
            <a:ext cx="7844444" cy="3433411"/>
          </a:xfrm>
          <a:prstGeom prst="rect">
            <a:avLst/>
          </a:prstGeom>
        </p:spPr>
      </p:pic>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a:t>6</a:t>
            </a:r>
            <a:r>
              <a:rPr kumimoji="1" lang="en-US" altLang="zh-HK"/>
              <a:t>.</a:t>
            </a:r>
            <a:r>
              <a:rPr kumimoji="1" lang="en-US" altLang="zh-TW"/>
              <a:t>2</a:t>
            </a:r>
            <a:r>
              <a:rPr kumimoji="1" lang="en-US" altLang="zh-HK"/>
              <a:t>– 20.7a(10)</a:t>
            </a:r>
            <a:endParaRPr kumimoji="1" lang="zh-HK" altLang="en-US" dirty="0"/>
          </a:p>
        </p:txBody>
      </p:sp>
      <p:pic>
        <p:nvPicPr>
          <p:cNvPr id="4" name="圖片 3" descr="一張含有 文字 的圖片&#10;&#10;自動產生的描述">
            <a:extLst>
              <a:ext uri="{FF2B5EF4-FFF2-40B4-BE49-F238E27FC236}">
                <a16:creationId xmlns:a16="http://schemas.microsoft.com/office/drawing/2014/main" id="{0B6DFA60-4404-4233-896A-E166610D71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356" y="3736502"/>
            <a:ext cx="7844444" cy="2928390"/>
          </a:xfrm>
          <a:prstGeom prst="rect">
            <a:avLst/>
          </a:prstGeom>
        </p:spPr>
      </p:pic>
    </p:spTree>
    <p:extLst>
      <p:ext uri="{BB962C8B-B14F-4D97-AF65-F5344CB8AC3E}">
        <p14:creationId xmlns:p14="http://schemas.microsoft.com/office/powerpoint/2010/main" val="1226298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7FA8F3CE-4BD9-0B4C-9C0B-D3490E7AB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0429"/>
            <a:ext cx="12192000" cy="4597141"/>
          </a:xfrm>
          <a:prstGeom prst="rect">
            <a:avLst/>
          </a:prstGeom>
        </p:spPr>
      </p:pic>
      <p:sp>
        <p:nvSpPr>
          <p:cNvPr id="6" name="橢圓 5">
            <a:extLst>
              <a:ext uri="{FF2B5EF4-FFF2-40B4-BE49-F238E27FC236}">
                <a16:creationId xmlns:a16="http://schemas.microsoft.com/office/drawing/2014/main" id="{1DB5B348-A592-425E-8DFC-0FCE3343D3FD}"/>
              </a:ext>
            </a:extLst>
          </p:cNvPr>
          <p:cNvSpPr/>
          <p:nvPr/>
        </p:nvSpPr>
        <p:spPr>
          <a:xfrm>
            <a:off x="2553210" y="2481846"/>
            <a:ext cx="7291434" cy="49786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34382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.3– 13.8c(4)</a:t>
            </a:r>
            <a:endParaRPr kumimoji="1" lang="zh-HK" altLang="en-US" dirty="0"/>
          </a:p>
        </p:txBody>
      </p:sp>
      <p:pic>
        <p:nvPicPr>
          <p:cNvPr id="4" name="圖片 3" descr="一張含有 文字 的圖片&#10;&#10;自動產生的描述">
            <a:extLst>
              <a:ext uri="{FF2B5EF4-FFF2-40B4-BE49-F238E27FC236}">
                <a16:creationId xmlns:a16="http://schemas.microsoft.com/office/drawing/2014/main" id="{ACB23779-7A1F-4940-BEAC-C3CCD17B46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1200" y="0"/>
            <a:ext cx="8940800" cy="5410200"/>
          </a:xfrm>
          <a:prstGeom prst="rect">
            <a:avLst/>
          </a:prstGeom>
        </p:spPr>
      </p:pic>
      <p:pic>
        <p:nvPicPr>
          <p:cNvPr id="7" name="圖片 6">
            <a:extLst>
              <a:ext uri="{FF2B5EF4-FFF2-40B4-BE49-F238E27FC236}">
                <a16:creationId xmlns:a16="http://schemas.microsoft.com/office/drawing/2014/main" id="{320586C3-4E96-1D44-8992-6AF187F1AE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036" y="5652655"/>
            <a:ext cx="11652315" cy="1096900"/>
          </a:xfrm>
          <a:prstGeom prst="rect">
            <a:avLst/>
          </a:prstGeom>
          <a:ln>
            <a:solidFill>
              <a:schemeClr val="tx1"/>
            </a:solidFill>
          </a:ln>
        </p:spPr>
      </p:pic>
    </p:spTree>
    <p:extLst>
      <p:ext uri="{BB962C8B-B14F-4D97-AF65-F5344CB8AC3E}">
        <p14:creationId xmlns:p14="http://schemas.microsoft.com/office/powerpoint/2010/main" val="14681545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.3– 13.8c(4)</a:t>
            </a:r>
            <a:endParaRPr kumimoji="1" lang="zh-HK" altLang="en-US" dirty="0"/>
          </a:p>
        </p:txBody>
      </p:sp>
      <p:pic>
        <p:nvPicPr>
          <p:cNvPr id="4" name="圖片 3" descr="一張含有 文字, 收據 的圖片&#10;&#10;自動產生的描述">
            <a:extLst>
              <a:ext uri="{FF2B5EF4-FFF2-40B4-BE49-F238E27FC236}">
                <a16:creationId xmlns:a16="http://schemas.microsoft.com/office/drawing/2014/main" id="{33F3DB7F-C7A7-CA47-AF2D-1752410A04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4204"/>
            <a:ext cx="12192000" cy="2712024"/>
          </a:xfrm>
          <a:prstGeom prst="rect">
            <a:avLst/>
          </a:prstGeom>
        </p:spPr>
      </p:pic>
    </p:spTree>
    <p:extLst>
      <p:ext uri="{BB962C8B-B14F-4D97-AF65-F5344CB8AC3E}">
        <p14:creationId xmlns:p14="http://schemas.microsoft.com/office/powerpoint/2010/main" val="1595259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7FA8F3CE-4BD9-0B4C-9C0B-D3490E7AB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0429"/>
            <a:ext cx="12192000" cy="4597141"/>
          </a:xfrm>
          <a:prstGeom prst="rect">
            <a:avLst/>
          </a:prstGeom>
        </p:spPr>
      </p:pic>
      <p:sp>
        <p:nvSpPr>
          <p:cNvPr id="6" name="橢圓 5">
            <a:extLst>
              <a:ext uri="{FF2B5EF4-FFF2-40B4-BE49-F238E27FC236}">
                <a16:creationId xmlns:a16="http://schemas.microsoft.com/office/drawing/2014/main" id="{1DB5B348-A592-425E-8DFC-0FCE3343D3FD}"/>
              </a:ext>
            </a:extLst>
          </p:cNvPr>
          <p:cNvSpPr/>
          <p:nvPr/>
        </p:nvSpPr>
        <p:spPr>
          <a:xfrm>
            <a:off x="2565085" y="3180064"/>
            <a:ext cx="7291434" cy="60816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08993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.3– 15.7b(6)</a:t>
            </a:r>
            <a:endParaRPr kumimoji="1" lang="zh-HK" altLang="en-US" dirty="0"/>
          </a:p>
        </p:txBody>
      </p:sp>
      <p:pic>
        <p:nvPicPr>
          <p:cNvPr id="5" name="圖片 4" descr="一張含有 文字 的圖片&#10;&#10;自動產生的描述">
            <a:extLst>
              <a:ext uri="{FF2B5EF4-FFF2-40B4-BE49-F238E27FC236}">
                <a16:creationId xmlns:a16="http://schemas.microsoft.com/office/drawing/2014/main" id="{C8596D5E-CCBF-A24F-B994-CEDF3D48E3F8}"/>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3000" contrast="94000"/>
                    </a14:imgEffect>
                  </a14:imgLayer>
                </a14:imgProps>
              </a:ext>
              <a:ext uri="{28A0092B-C50C-407E-A947-70E740481C1C}">
                <a14:useLocalDpi xmlns:a14="http://schemas.microsoft.com/office/drawing/2010/main" val="0"/>
              </a:ext>
            </a:extLst>
          </a:blip>
          <a:srcRect b="87321"/>
          <a:stretch/>
        </p:blipFill>
        <p:spPr>
          <a:xfrm>
            <a:off x="2980717" y="164157"/>
            <a:ext cx="8946132" cy="978361"/>
          </a:xfrm>
          <a:prstGeom prst="rect">
            <a:avLst/>
          </a:prstGeom>
        </p:spPr>
      </p:pic>
      <p:pic>
        <p:nvPicPr>
          <p:cNvPr id="6" name="圖片 5" descr="一張含有 文字 的圖片&#10;&#10;自動產生的描述">
            <a:extLst>
              <a:ext uri="{FF2B5EF4-FFF2-40B4-BE49-F238E27FC236}">
                <a16:creationId xmlns:a16="http://schemas.microsoft.com/office/drawing/2014/main" id="{AD84812E-A8CC-194A-8D90-02792A4DAB1E}"/>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3000" contrast="94000"/>
                    </a14:imgEffect>
                  </a14:imgLayer>
                </a14:imgProps>
              </a:ext>
              <a:ext uri="{28A0092B-C50C-407E-A947-70E740481C1C}">
                <a14:useLocalDpi xmlns:a14="http://schemas.microsoft.com/office/drawing/2010/main" val="0"/>
              </a:ext>
            </a:extLst>
          </a:blip>
          <a:srcRect t="44864"/>
          <a:stretch/>
        </p:blipFill>
        <p:spPr>
          <a:xfrm>
            <a:off x="2980716" y="1217227"/>
            <a:ext cx="8946132" cy="4254383"/>
          </a:xfrm>
          <a:prstGeom prst="rect">
            <a:avLst/>
          </a:prstGeom>
        </p:spPr>
      </p:pic>
      <p:pic>
        <p:nvPicPr>
          <p:cNvPr id="8" name="圖片 7">
            <a:extLst>
              <a:ext uri="{FF2B5EF4-FFF2-40B4-BE49-F238E27FC236}">
                <a16:creationId xmlns:a16="http://schemas.microsoft.com/office/drawing/2014/main" id="{D3ECFE79-8717-3246-8550-C575F20881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152" y="5648488"/>
            <a:ext cx="11283075" cy="762168"/>
          </a:xfrm>
          <a:prstGeom prst="rect">
            <a:avLst/>
          </a:prstGeom>
          <a:ln>
            <a:solidFill>
              <a:schemeClr val="tx1"/>
            </a:solidFill>
          </a:ln>
        </p:spPr>
      </p:pic>
    </p:spTree>
    <p:extLst>
      <p:ext uri="{BB962C8B-B14F-4D97-AF65-F5344CB8AC3E}">
        <p14:creationId xmlns:p14="http://schemas.microsoft.com/office/powerpoint/2010/main" val="332529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.3– 15.7b(6)</a:t>
            </a:r>
            <a:endParaRPr kumimoji="1" lang="zh-HK" altLang="en-US" dirty="0"/>
          </a:p>
        </p:txBody>
      </p:sp>
      <p:pic>
        <p:nvPicPr>
          <p:cNvPr id="4" name="圖片 3" descr="一張含有 文字, 收據, 螢幕擷取畫面 的圖片&#10;&#10;自動產生的描述">
            <a:extLst>
              <a:ext uri="{FF2B5EF4-FFF2-40B4-BE49-F238E27FC236}">
                <a16:creationId xmlns:a16="http://schemas.microsoft.com/office/drawing/2014/main" id="{615AF53A-8BBB-E640-9B41-103E505B7A7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7000" contrast="96000"/>
                    </a14:imgEffect>
                  </a14:imgLayer>
                </a14:imgProps>
              </a:ext>
              <a:ext uri="{28A0092B-C50C-407E-A947-70E740481C1C}">
                <a14:useLocalDpi xmlns:a14="http://schemas.microsoft.com/office/drawing/2010/main" val="0"/>
              </a:ext>
            </a:extLst>
          </a:blip>
          <a:stretch>
            <a:fillRect/>
          </a:stretch>
        </p:blipFill>
        <p:spPr>
          <a:xfrm>
            <a:off x="17857" y="1353312"/>
            <a:ext cx="12156286" cy="2931529"/>
          </a:xfrm>
          <a:prstGeom prst="rect">
            <a:avLst/>
          </a:prstGeom>
        </p:spPr>
      </p:pic>
    </p:spTree>
    <p:extLst>
      <p:ext uri="{BB962C8B-B14F-4D97-AF65-F5344CB8AC3E}">
        <p14:creationId xmlns:p14="http://schemas.microsoft.com/office/powerpoint/2010/main" val="795890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.3– 15.7b(6)</a:t>
            </a:r>
            <a:endParaRPr kumimoji="1" lang="zh-HK" altLang="en-US" dirty="0"/>
          </a:p>
        </p:txBody>
      </p:sp>
      <p:pic>
        <p:nvPicPr>
          <p:cNvPr id="5" name="圖片 4" descr="一張含有 文字 的圖片&#10;&#10;自動產生的描述">
            <a:extLst>
              <a:ext uri="{FF2B5EF4-FFF2-40B4-BE49-F238E27FC236}">
                <a16:creationId xmlns:a16="http://schemas.microsoft.com/office/drawing/2014/main" id="{8930CD87-95A9-4D33-B533-44869785F3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206" y="827585"/>
            <a:ext cx="10269279" cy="2859512"/>
          </a:xfrm>
          <a:prstGeom prst="rect">
            <a:avLst/>
          </a:prstGeom>
        </p:spPr>
      </p:pic>
      <p:pic>
        <p:nvPicPr>
          <p:cNvPr id="7" name="圖片 6" descr="一張含有 文字 的圖片&#10;&#10;自動產生的描述">
            <a:extLst>
              <a:ext uri="{FF2B5EF4-FFF2-40B4-BE49-F238E27FC236}">
                <a16:creationId xmlns:a16="http://schemas.microsoft.com/office/drawing/2014/main" id="{3F54406E-603E-4A27-A881-81ACC4A325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942" y="3654754"/>
            <a:ext cx="9438188" cy="3184990"/>
          </a:xfrm>
          <a:prstGeom prst="rect">
            <a:avLst/>
          </a:prstGeom>
        </p:spPr>
      </p:pic>
      <p:pic>
        <p:nvPicPr>
          <p:cNvPr id="9" name="圖片 8" descr="一張含有 文字 的圖片&#10;&#10;自動產生的描述">
            <a:extLst>
              <a:ext uri="{FF2B5EF4-FFF2-40B4-BE49-F238E27FC236}">
                <a16:creationId xmlns:a16="http://schemas.microsoft.com/office/drawing/2014/main" id="{1B7A2B69-F655-447F-8F0A-5384BB8CB0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2053" y="223915"/>
            <a:ext cx="4703084" cy="871638"/>
          </a:xfrm>
          <a:prstGeom prst="rect">
            <a:avLst/>
          </a:prstGeom>
        </p:spPr>
      </p:pic>
      <p:sp>
        <p:nvSpPr>
          <p:cNvPr id="10" name="橢圓 9">
            <a:extLst>
              <a:ext uri="{FF2B5EF4-FFF2-40B4-BE49-F238E27FC236}">
                <a16:creationId xmlns:a16="http://schemas.microsoft.com/office/drawing/2014/main" id="{8ABA0A0B-2C07-4E92-A380-1EA71A5CB88D}"/>
              </a:ext>
            </a:extLst>
          </p:cNvPr>
          <p:cNvSpPr/>
          <p:nvPr/>
        </p:nvSpPr>
        <p:spPr>
          <a:xfrm>
            <a:off x="2862840" y="73944"/>
            <a:ext cx="339213" cy="294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11" name="橢圓 10">
            <a:extLst>
              <a:ext uri="{FF2B5EF4-FFF2-40B4-BE49-F238E27FC236}">
                <a16:creationId xmlns:a16="http://schemas.microsoft.com/office/drawing/2014/main" id="{8100A507-89C0-4C5B-9FAE-2D93B00BAE83}"/>
              </a:ext>
            </a:extLst>
          </p:cNvPr>
          <p:cNvSpPr/>
          <p:nvPr/>
        </p:nvSpPr>
        <p:spPr>
          <a:xfrm>
            <a:off x="7014362" y="70770"/>
            <a:ext cx="339213" cy="294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2</a:t>
            </a:r>
            <a:endParaRPr lang="zh-TW" altLang="en-US" dirty="0"/>
          </a:p>
        </p:txBody>
      </p:sp>
    </p:spTree>
    <p:extLst>
      <p:ext uri="{BB962C8B-B14F-4D97-AF65-F5344CB8AC3E}">
        <p14:creationId xmlns:p14="http://schemas.microsoft.com/office/powerpoint/2010/main" val="631666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7FA8F3CE-4BD9-0B4C-9C0B-D3490E7AB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0429"/>
            <a:ext cx="12192000" cy="4597141"/>
          </a:xfrm>
          <a:prstGeom prst="rect">
            <a:avLst/>
          </a:prstGeom>
        </p:spPr>
      </p:pic>
      <p:sp>
        <p:nvSpPr>
          <p:cNvPr id="6" name="橢圓 5">
            <a:extLst>
              <a:ext uri="{FF2B5EF4-FFF2-40B4-BE49-F238E27FC236}">
                <a16:creationId xmlns:a16="http://schemas.microsoft.com/office/drawing/2014/main" id="{1DB5B348-A592-425E-8DFC-0FCE3343D3FD}"/>
              </a:ext>
            </a:extLst>
          </p:cNvPr>
          <p:cNvSpPr/>
          <p:nvPr/>
        </p:nvSpPr>
        <p:spPr>
          <a:xfrm>
            <a:off x="2553209" y="3940084"/>
            <a:ext cx="7291434" cy="60816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200668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.3– 17.6a(6)</a:t>
            </a:r>
            <a:endParaRPr kumimoji="1" lang="zh-HK" altLang="en-US" dirty="0"/>
          </a:p>
        </p:txBody>
      </p:sp>
      <p:pic>
        <p:nvPicPr>
          <p:cNvPr id="4" name="圖片 3" descr="一張含有 桌 的圖片&#10;&#10;自動產生的描述">
            <a:extLst>
              <a:ext uri="{FF2B5EF4-FFF2-40B4-BE49-F238E27FC236}">
                <a16:creationId xmlns:a16="http://schemas.microsoft.com/office/drawing/2014/main" id="{E143B633-3FAF-FB43-9591-56B610B1E89D}"/>
              </a:ext>
            </a:extLst>
          </p:cNvPr>
          <p:cNvPicPr>
            <a:picLocks noChangeAspect="1"/>
          </p:cNvPicPr>
          <p:nvPr/>
        </p:nvPicPr>
        <p:blipFill rotWithShape="1">
          <a:blip r:embed="rId2">
            <a:extLst>
              <a:ext uri="{28A0092B-C50C-407E-A947-70E740481C1C}">
                <a14:useLocalDpi xmlns:a14="http://schemas.microsoft.com/office/drawing/2010/main" val="0"/>
              </a:ext>
            </a:extLst>
          </a:blip>
          <a:srcRect r="904"/>
          <a:stretch/>
        </p:blipFill>
        <p:spPr>
          <a:xfrm>
            <a:off x="2816098" y="18256"/>
            <a:ext cx="9375902" cy="4876800"/>
          </a:xfrm>
          <a:prstGeom prst="rect">
            <a:avLst/>
          </a:prstGeom>
        </p:spPr>
      </p:pic>
      <p:pic>
        <p:nvPicPr>
          <p:cNvPr id="9" name="圖片 8">
            <a:extLst>
              <a:ext uri="{FF2B5EF4-FFF2-40B4-BE49-F238E27FC236}">
                <a16:creationId xmlns:a16="http://schemas.microsoft.com/office/drawing/2014/main" id="{3BE28E81-7023-7E46-9887-F303CF1D7A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601" y="5424094"/>
            <a:ext cx="12109399" cy="708152"/>
          </a:xfrm>
          <a:prstGeom prst="rect">
            <a:avLst/>
          </a:prstGeom>
          <a:ln>
            <a:solidFill>
              <a:schemeClr val="tx1"/>
            </a:solidFill>
          </a:ln>
        </p:spPr>
      </p:pic>
    </p:spTree>
    <p:extLst>
      <p:ext uri="{BB962C8B-B14F-4D97-AF65-F5344CB8AC3E}">
        <p14:creationId xmlns:p14="http://schemas.microsoft.com/office/powerpoint/2010/main" val="2010922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.3– 17.6a(6)</a:t>
            </a:r>
            <a:endParaRPr kumimoji="1" lang="zh-HK" altLang="en-US" dirty="0"/>
          </a:p>
        </p:txBody>
      </p:sp>
      <p:pic>
        <p:nvPicPr>
          <p:cNvPr id="4" name="圖片 3" descr="一張含有 文字, 收據 的圖片&#10;&#10;自動產生的描述">
            <a:extLst>
              <a:ext uri="{FF2B5EF4-FFF2-40B4-BE49-F238E27FC236}">
                <a16:creationId xmlns:a16="http://schemas.microsoft.com/office/drawing/2014/main" id="{E3B4F654-9356-D644-B858-859EFF224D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761" y="1075436"/>
            <a:ext cx="11732883" cy="3179572"/>
          </a:xfrm>
          <a:prstGeom prst="rect">
            <a:avLst/>
          </a:prstGeom>
          <a:ln>
            <a:solidFill>
              <a:schemeClr val="tx1"/>
            </a:solidFill>
          </a:ln>
        </p:spPr>
      </p:pic>
    </p:spTree>
    <p:extLst>
      <p:ext uri="{BB962C8B-B14F-4D97-AF65-F5344CB8AC3E}">
        <p14:creationId xmlns:p14="http://schemas.microsoft.com/office/powerpoint/2010/main" val="1800459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.3– 17.6a(6)</a:t>
            </a:r>
            <a:endParaRPr kumimoji="1" lang="zh-HK" altLang="en-US" dirty="0"/>
          </a:p>
        </p:txBody>
      </p:sp>
      <p:pic>
        <p:nvPicPr>
          <p:cNvPr id="5" name="圖片 4" descr="一張含有 文字 的圖片&#10;&#10;自動產生的描述">
            <a:extLst>
              <a:ext uri="{FF2B5EF4-FFF2-40B4-BE49-F238E27FC236}">
                <a16:creationId xmlns:a16="http://schemas.microsoft.com/office/drawing/2014/main" id="{A2C01E60-EED7-4D9F-A731-A5A0929D0C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602" y="617517"/>
            <a:ext cx="9217095" cy="2553385"/>
          </a:xfrm>
          <a:prstGeom prst="rect">
            <a:avLst/>
          </a:prstGeom>
        </p:spPr>
      </p:pic>
      <p:pic>
        <p:nvPicPr>
          <p:cNvPr id="7" name="圖片 6" descr="一張含有 文字 的圖片&#10;&#10;自動產生的描述">
            <a:extLst>
              <a:ext uri="{FF2B5EF4-FFF2-40B4-BE49-F238E27FC236}">
                <a16:creationId xmlns:a16="http://schemas.microsoft.com/office/drawing/2014/main" id="{475CCD89-6B4A-4F47-BF4D-0CADAE25BC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603" y="3687099"/>
            <a:ext cx="9113318" cy="3152646"/>
          </a:xfrm>
          <a:prstGeom prst="rect">
            <a:avLst/>
          </a:prstGeom>
        </p:spPr>
      </p:pic>
    </p:spTree>
    <p:extLst>
      <p:ext uri="{BB962C8B-B14F-4D97-AF65-F5344CB8AC3E}">
        <p14:creationId xmlns:p14="http://schemas.microsoft.com/office/powerpoint/2010/main" val="1751207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.3– 17.6a(6)</a:t>
            </a:r>
            <a:endParaRPr kumimoji="1" lang="zh-HK" altLang="en-US" dirty="0"/>
          </a:p>
        </p:txBody>
      </p:sp>
      <p:pic>
        <p:nvPicPr>
          <p:cNvPr id="4" name="圖片 3" descr="一張含有 文字 的圖片&#10;&#10;自動產生的描述">
            <a:extLst>
              <a:ext uri="{FF2B5EF4-FFF2-40B4-BE49-F238E27FC236}">
                <a16:creationId xmlns:a16="http://schemas.microsoft.com/office/drawing/2014/main" id="{E1FAAE0A-E072-453F-92CF-493D4BB21E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4230" y="1037891"/>
            <a:ext cx="9381028" cy="3194896"/>
          </a:xfrm>
          <a:prstGeom prst="rect">
            <a:avLst/>
          </a:prstGeom>
        </p:spPr>
      </p:pic>
    </p:spTree>
    <p:extLst>
      <p:ext uri="{BB962C8B-B14F-4D97-AF65-F5344CB8AC3E}">
        <p14:creationId xmlns:p14="http://schemas.microsoft.com/office/powerpoint/2010/main" val="7469260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7FA8F3CE-4BD9-0B4C-9C0B-D3490E7AB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0429"/>
            <a:ext cx="12192000" cy="4597141"/>
          </a:xfrm>
          <a:prstGeom prst="rect">
            <a:avLst/>
          </a:prstGeom>
        </p:spPr>
      </p:pic>
      <p:sp>
        <p:nvSpPr>
          <p:cNvPr id="6" name="橢圓 5">
            <a:extLst>
              <a:ext uri="{FF2B5EF4-FFF2-40B4-BE49-F238E27FC236}">
                <a16:creationId xmlns:a16="http://schemas.microsoft.com/office/drawing/2014/main" id="{1DB5B348-A592-425E-8DFC-0FCE3343D3FD}"/>
              </a:ext>
            </a:extLst>
          </p:cNvPr>
          <p:cNvSpPr/>
          <p:nvPr/>
        </p:nvSpPr>
        <p:spPr>
          <a:xfrm>
            <a:off x="2450283" y="5119405"/>
            <a:ext cx="7291434" cy="60816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0521297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.3– 20.8b(10)</a:t>
            </a:r>
            <a:endParaRPr kumimoji="1" lang="zh-HK" altLang="en-US" dirty="0"/>
          </a:p>
        </p:txBody>
      </p:sp>
      <p:pic>
        <p:nvPicPr>
          <p:cNvPr id="5" name="圖片 4">
            <a:extLst>
              <a:ext uri="{FF2B5EF4-FFF2-40B4-BE49-F238E27FC236}">
                <a16:creationId xmlns:a16="http://schemas.microsoft.com/office/drawing/2014/main" id="{AB09CC49-9E5D-7F41-8274-963F23E61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899" y="862584"/>
            <a:ext cx="11562969" cy="1039368"/>
          </a:xfrm>
          <a:prstGeom prst="rect">
            <a:avLst/>
          </a:prstGeom>
        </p:spPr>
      </p:pic>
      <p:pic>
        <p:nvPicPr>
          <p:cNvPr id="7" name="圖片 6">
            <a:extLst>
              <a:ext uri="{FF2B5EF4-FFF2-40B4-BE49-F238E27FC236}">
                <a16:creationId xmlns:a16="http://schemas.microsoft.com/office/drawing/2014/main" id="{E3AA42F3-18D2-7645-88D4-76F83C5817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899" y="2101298"/>
            <a:ext cx="11562969" cy="580440"/>
          </a:xfrm>
          <a:prstGeom prst="rect">
            <a:avLst/>
          </a:prstGeom>
        </p:spPr>
      </p:pic>
    </p:spTree>
    <p:extLst>
      <p:ext uri="{BB962C8B-B14F-4D97-AF65-F5344CB8AC3E}">
        <p14:creationId xmlns:p14="http://schemas.microsoft.com/office/powerpoint/2010/main" val="2926967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.3– 20.8b(10)</a:t>
            </a:r>
            <a:endParaRPr kumimoji="1" lang="zh-HK" altLang="en-US" dirty="0"/>
          </a:p>
        </p:txBody>
      </p:sp>
      <p:pic>
        <p:nvPicPr>
          <p:cNvPr id="4" name="圖片 3" descr="一張含有 文字 的圖片&#10;&#10;自動產生的描述">
            <a:extLst>
              <a:ext uri="{FF2B5EF4-FFF2-40B4-BE49-F238E27FC236}">
                <a16:creationId xmlns:a16="http://schemas.microsoft.com/office/drawing/2014/main" id="{2394A46F-5117-AF45-BAF1-8B68C7E494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222502"/>
            <a:ext cx="12186341" cy="2605786"/>
          </a:xfrm>
          <a:prstGeom prst="rect">
            <a:avLst/>
          </a:prstGeom>
        </p:spPr>
      </p:pic>
    </p:spTree>
    <p:extLst>
      <p:ext uri="{BB962C8B-B14F-4D97-AF65-F5344CB8AC3E}">
        <p14:creationId xmlns:p14="http://schemas.microsoft.com/office/powerpoint/2010/main" val="5218550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EF449FD7-D354-4E3D-8122-4DF7977C799A}"/>
              </a:ext>
            </a:extLst>
          </p:cNvPr>
          <p:cNvPicPr>
            <a:picLocks noChangeAspect="1"/>
          </p:cNvPicPr>
          <p:nvPr/>
        </p:nvPicPr>
        <p:blipFill>
          <a:blip r:embed="rId2"/>
          <a:stretch>
            <a:fillRect/>
          </a:stretch>
        </p:blipFill>
        <p:spPr>
          <a:xfrm>
            <a:off x="0" y="395046"/>
            <a:ext cx="12192000" cy="6067907"/>
          </a:xfrm>
          <a:prstGeom prst="rect">
            <a:avLst/>
          </a:prstGeom>
        </p:spPr>
      </p:pic>
      <p:sp>
        <p:nvSpPr>
          <p:cNvPr id="6" name="橢圓 5">
            <a:extLst>
              <a:ext uri="{FF2B5EF4-FFF2-40B4-BE49-F238E27FC236}">
                <a16:creationId xmlns:a16="http://schemas.microsoft.com/office/drawing/2014/main" id="{812DE44F-A6AB-41C0-A14D-657E2EBF8A4D}"/>
              </a:ext>
            </a:extLst>
          </p:cNvPr>
          <p:cNvSpPr/>
          <p:nvPr/>
        </p:nvSpPr>
        <p:spPr>
          <a:xfrm>
            <a:off x="587901" y="5927777"/>
            <a:ext cx="1512117" cy="60816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67435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0E2F0430-662C-4132-AB4A-42F77231A1BB}"/>
              </a:ext>
            </a:extLst>
          </p:cNvPr>
          <p:cNvSpPr txBox="1">
            <a:spLocks/>
          </p:cNvSpPr>
          <p:nvPr/>
        </p:nvSpPr>
        <p:spPr>
          <a:xfrm>
            <a:off x="216816" y="187938"/>
            <a:ext cx="10515600" cy="59926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dirty="0"/>
              <a:t>6</a:t>
            </a:r>
            <a:r>
              <a:rPr kumimoji="1" lang="en-US" altLang="zh-HK" dirty="0"/>
              <a:t>.2– 25.9a (9)</a:t>
            </a:r>
            <a:endParaRPr kumimoji="1" lang="zh-HK" altLang="en-US" dirty="0"/>
          </a:p>
        </p:txBody>
      </p:sp>
      <p:sp>
        <p:nvSpPr>
          <p:cNvPr id="6" name="文字方塊 5">
            <a:extLst>
              <a:ext uri="{FF2B5EF4-FFF2-40B4-BE49-F238E27FC236}">
                <a16:creationId xmlns:a16="http://schemas.microsoft.com/office/drawing/2014/main" id="{9E6D05D3-7CF5-4CA8-90F9-1DD0E2649673}"/>
              </a:ext>
            </a:extLst>
          </p:cNvPr>
          <p:cNvSpPr txBox="1"/>
          <p:nvPr/>
        </p:nvSpPr>
        <p:spPr>
          <a:xfrm>
            <a:off x="649663" y="1047715"/>
            <a:ext cx="10964160" cy="2246769"/>
          </a:xfrm>
          <a:prstGeom prst="rect">
            <a:avLst/>
          </a:prstGeom>
          <a:noFill/>
        </p:spPr>
        <p:txBody>
          <a:bodyPr wrap="square">
            <a:spAutoFit/>
          </a:bodyPr>
          <a:lstStyle/>
          <a:p>
            <a:pPr algn="l"/>
            <a:r>
              <a:rPr lang="zh-TW" altLang="en-US" sz="2800" b="0" i="0" dirty="0">
                <a:effectLst/>
                <a:latin typeface="quote-cjk-patch"/>
              </a:rPr>
              <a:t>一家創新科技公司打算推出數款智能家居用品，例如智能燈飾和智能保安系統。公司計劃以內部晉升聘請一名負責這些人工智能產品的經理。</a:t>
            </a:r>
          </a:p>
          <a:p>
            <a:pPr algn="l"/>
            <a:r>
              <a:rPr lang="zh-TW" altLang="en-US" sz="2800" b="0" i="0" dirty="0">
                <a:effectLst/>
                <a:latin typeface="quote-cjk-patch"/>
              </a:rPr>
              <a:t>為這些智能家居用品制訂合適的市場營銷組合策略，並以產品生命周期中介紹期的特性闡述你的答案。 </a:t>
            </a:r>
            <a:r>
              <a:rPr lang="en-US" altLang="zh-TW" sz="2800" b="0" i="0" dirty="0">
                <a:effectLst/>
                <a:latin typeface="quote-cjk-patch"/>
              </a:rPr>
              <a:t>					</a:t>
            </a:r>
            <a:r>
              <a:rPr lang="zh-TW" altLang="en-US" sz="2800" b="0" i="0" dirty="0">
                <a:effectLst/>
                <a:latin typeface="quote-cjk-patch"/>
              </a:rPr>
              <a:t>（</a:t>
            </a:r>
            <a:r>
              <a:rPr lang="en-US" altLang="zh-TW" sz="2800" b="0" i="0" dirty="0">
                <a:effectLst/>
                <a:latin typeface="quote-cjk-patch"/>
              </a:rPr>
              <a:t>9</a:t>
            </a:r>
            <a:r>
              <a:rPr lang="zh-TW" altLang="en-US" sz="2800" b="0" i="0" dirty="0">
                <a:effectLst/>
                <a:latin typeface="quote-cjk-patch"/>
              </a:rPr>
              <a:t>分）</a:t>
            </a:r>
          </a:p>
        </p:txBody>
      </p:sp>
    </p:spTree>
    <p:extLst>
      <p:ext uri="{BB962C8B-B14F-4D97-AF65-F5344CB8AC3E}">
        <p14:creationId xmlns:p14="http://schemas.microsoft.com/office/powerpoint/2010/main" val="42409098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0E2F0430-662C-4132-AB4A-42F77231A1BB}"/>
              </a:ext>
            </a:extLst>
          </p:cNvPr>
          <p:cNvSpPr txBox="1">
            <a:spLocks/>
          </p:cNvSpPr>
          <p:nvPr/>
        </p:nvSpPr>
        <p:spPr>
          <a:xfrm>
            <a:off x="216816" y="187938"/>
            <a:ext cx="10515600" cy="59926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dirty="0"/>
              <a:t>6</a:t>
            </a:r>
            <a:r>
              <a:rPr kumimoji="1" lang="en-US" altLang="zh-HK" dirty="0"/>
              <a:t>.2– 25.9a (9)</a:t>
            </a:r>
            <a:endParaRPr kumimoji="1" lang="zh-HK" altLang="en-US" dirty="0"/>
          </a:p>
        </p:txBody>
      </p:sp>
      <p:sp>
        <p:nvSpPr>
          <p:cNvPr id="9" name="文字方塊 8">
            <a:extLst>
              <a:ext uri="{FF2B5EF4-FFF2-40B4-BE49-F238E27FC236}">
                <a16:creationId xmlns:a16="http://schemas.microsoft.com/office/drawing/2014/main" id="{22B50904-682E-4920-9FBA-1C9D3DEB3471}"/>
              </a:ext>
            </a:extLst>
          </p:cNvPr>
          <p:cNvSpPr txBox="1"/>
          <p:nvPr/>
        </p:nvSpPr>
        <p:spPr>
          <a:xfrm>
            <a:off x="631596" y="954193"/>
            <a:ext cx="11170763" cy="3785652"/>
          </a:xfrm>
          <a:prstGeom prst="rect">
            <a:avLst/>
          </a:prstGeom>
          <a:noFill/>
        </p:spPr>
        <p:txBody>
          <a:bodyPr wrap="square">
            <a:spAutoFit/>
          </a:bodyPr>
          <a:lstStyle/>
          <a:p>
            <a:pPr algn="l"/>
            <a:r>
              <a:rPr lang="zh-TW" altLang="en-US" sz="4000" b="1" i="0" dirty="0">
                <a:effectLst/>
                <a:latin typeface="quote-cjk-patch"/>
              </a:rPr>
              <a:t>評分原則：</a:t>
            </a:r>
            <a:endParaRPr lang="zh-TW" altLang="en-US" sz="4000" b="0" i="0" dirty="0">
              <a:effectLst/>
              <a:latin typeface="quote-cjk-patch"/>
            </a:endParaRPr>
          </a:p>
          <a:p>
            <a:pPr algn="l"/>
            <a:r>
              <a:rPr lang="zh-TW" altLang="en-US" sz="4000" b="0" i="0" dirty="0">
                <a:effectLst/>
                <a:latin typeface="quote-cjk-patch"/>
              </a:rPr>
              <a:t>在介紹期的市場營銷組合策略</a:t>
            </a:r>
            <a:r>
              <a:rPr lang="en-US" altLang="zh-TW" sz="4000" b="0" i="0" dirty="0">
                <a:effectLst/>
                <a:latin typeface="quote-cjk-patch"/>
              </a:rPr>
              <a:t>1 </a:t>
            </a:r>
          </a:p>
          <a:p>
            <a:pPr algn="l"/>
            <a:r>
              <a:rPr lang="en-US" altLang="zh-TW" sz="4000" b="0" i="0" dirty="0">
                <a:effectLst/>
                <a:latin typeface="quote-cjk-patch"/>
              </a:rPr>
              <a:t>+</a:t>
            </a:r>
          </a:p>
          <a:p>
            <a:pPr algn="l"/>
            <a:r>
              <a:rPr lang="zh-TW" altLang="en-US" sz="4000" b="0" i="0" dirty="0">
                <a:effectLst/>
                <a:latin typeface="quote-cjk-patch"/>
              </a:rPr>
              <a:t>以介紹期的特性闡述的例子</a:t>
            </a:r>
            <a:r>
              <a:rPr lang="en-US" altLang="zh-TW" sz="4000" b="0" i="0" dirty="0">
                <a:effectLst/>
                <a:latin typeface="quote-cjk-patch"/>
              </a:rPr>
              <a:t>2</a:t>
            </a:r>
          </a:p>
          <a:p>
            <a:pPr algn="l"/>
            <a:endParaRPr lang="en-US" altLang="zh-TW" sz="4000" b="0" i="0" dirty="0">
              <a:effectLst/>
              <a:latin typeface="quote-cjk-patch"/>
            </a:endParaRPr>
          </a:p>
          <a:p>
            <a:pPr algn="l"/>
            <a:r>
              <a:rPr lang="zh-TW" altLang="en-US" sz="4000" b="0" i="0" dirty="0">
                <a:effectLst/>
                <a:latin typeface="quote-cjk-patch"/>
              </a:rPr>
              <a:t>（以智能家居裝置為背景）</a:t>
            </a:r>
            <a:endParaRPr lang="en-US" altLang="zh-TW" sz="4000" b="0" i="0" dirty="0">
              <a:effectLst/>
              <a:latin typeface="quote-cjk-patch"/>
            </a:endParaRPr>
          </a:p>
        </p:txBody>
      </p:sp>
    </p:spTree>
    <p:extLst>
      <p:ext uri="{BB962C8B-B14F-4D97-AF65-F5344CB8AC3E}">
        <p14:creationId xmlns:p14="http://schemas.microsoft.com/office/powerpoint/2010/main" val="41035249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0E2F0430-662C-4132-AB4A-42F77231A1BB}"/>
              </a:ext>
            </a:extLst>
          </p:cNvPr>
          <p:cNvSpPr txBox="1">
            <a:spLocks/>
          </p:cNvSpPr>
          <p:nvPr/>
        </p:nvSpPr>
        <p:spPr>
          <a:xfrm>
            <a:off x="216816" y="187938"/>
            <a:ext cx="10515600" cy="59926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dirty="0"/>
              <a:t>6</a:t>
            </a:r>
            <a:r>
              <a:rPr kumimoji="1" lang="en-US" altLang="zh-HK" dirty="0"/>
              <a:t>.2– 25.9a (9)</a:t>
            </a:r>
            <a:endParaRPr kumimoji="1" lang="zh-HK" altLang="en-US" dirty="0"/>
          </a:p>
        </p:txBody>
      </p:sp>
      <p:sp>
        <p:nvSpPr>
          <p:cNvPr id="9" name="文字方塊 8">
            <a:extLst>
              <a:ext uri="{FF2B5EF4-FFF2-40B4-BE49-F238E27FC236}">
                <a16:creationId xmlns:a16="http://schemas.microsoft.com/office/drawing/2014/main" id="{22B50904-682E-4920-9FBA-1C9D3DEB3471}"/>
              </a:ext>
            </a:extLst>
          </p:cNvPr>
          <p:cNvSpPr txBox="1"/>
          <p:nvPr/>
        </p:nvSpPr>
        <p:spPr>
          <a:xfrm>
            <a:off x="631596" y="954193"/>
            <a:ext cx="11170763" cy="4893647"/>
          </a:xfrm>
          <a:prstGeom prst="rect">
            <a:avLst/>
          </a:prstGeom>
          <a:noFill/>
        </p:spPr>
        <p:txBody>
          <a:bodyPr wrap="square">
            <a:spAutoFit/>
          </a:bodyPr>
          <a:lstStyle/>
          <a:p>
            <a:pPr algn="l"/>
            <a:r>
              <a:rPr lang="zh-TW" altLang="en-US" sz="2400" b="0" i="0" dirty="0">
                <a:effectLst/>
                <a:latin typeface="quote-cjk-patch"/>
              </a:rPr>
              <a:t>在介紹期的市場營銷組合策略：</a:t>
            </a:r>
          </a:p>
          <a:p>
            <a:pPr marL="342900" indent="-342900" algn="l">
              <a:buFont typeface="Arial" panose="020B0604020202020204" pitchFamily="34" charset="0"/>
              <a:buChar char="•"/>
            </a:pPr>
            <a:r>
              <a:rPr lang="zh-TW" altLang="en-US" sz="2400" b="0" i="0" dirty="0">
                <a:effectLst/>
                <a:latin typeface="quote-cjk-patch"/>
              </a:rPr>
              <a:t>產品：由於顧客對智能產品的認識不高，公司可推出具一般特點的基本人工智能產品以吸引創新者</a:t>
            </a:r>
            <a:br>
              <a:rPr lang="zh-TW" altLang="en-US" sz="2400" b="0" i="0" dirty="0">
                <a:effectLst/>
                <a:latin typeface="quote-cjk-patch"/>
              </a:rPr>
            </a:br>
            <a:r>
              <a:rPr lang="zh-TW" altLang="en-US" sz="2400" b="0" i="1" dirty="0">
                <a:effectLst/>
                <a:latin typeface="quote-cjk-patch"/>
              </a:rPr>
              <a:t>市場營銷組合策略 </a:t>
            </a:r>
            <a:r>
              <a:rPr lang="en-US" altLang="zh-TW" sz="2400" b="0" i="1" dirty="0">
                <a:effectLst/>
                <a:latin typeface="quote-cjk-patch"/>
              </a:rPr>
              <a:t>– </a:t>
            </a:r>
            <a:r>
              <a:rPr lang="zh-TW" altLang="en-US" sz="2400" b="0" i="1" dirty="0">
                <a:effectLst/>
                <a:latin typeface="quote-cjk-patch"/>
              </a:rPr>
              <a:t>推出具基本功能的人工智能產品</a:t>
            </a:r>
            <a:endParaRPr lang="zh-TW" altLang="en-US" sz="2400" b="0" i="0" dirty="0">
              <a:effectLst/>
              <a:latin typeface="quote-cjk-patch"/>
            </a:endParaRPr>
          </a:p>
          <a:p>
            <a:pPr marL="342900" indent="-342900" algn="l">
              <a:buFont typeface="Arial" panose="020B0604020202020204" pitchFamily="34" charset="0"/>
              <a:buChar char="•"/>
            </a:pPr>
            <a:r>
              <a:rPr lang="zh-TW" altLang="en-US" sz="2400" b="0" i="0" dirty="0">
                <a:effectLst/>
                <a:latin typeface="quote-cjk-patch"/>
              </a:rPr>
              <a:t>價格：由於競爭較少，公司可用成本加成 </a:t>
            </a:r>
            <a:r>
              <a:rPr lang="en-US" altLang="zh-TW" sz="2400" b="0" i="0" dirty="0">
                <a:effectLst/>
                <a:latin typeface="quote-cjk-patch"/>
              </a:rPr>
              <a:t>/ </a:t>
            </a:r>
            <a:r>
              <a:rPr lang="zh-TW" altLang="en-US" sz="2400" b="0" i="0" dirty="0">
                <a:effectLst/>
                <a:latin typeface="quote-cjk-patch"/>
              </a:rPr>
              <a:t>撇油性訂價策略為產品定價，以收回高昂的開發 </a:t>
            </a:r>
            <a:r>
              <a:rPr lang="en-US" altLang="zh-TW" sz="2400" b="0" i="0" dirty="0">
                <a:effectLst/>
                <a:latin typeface="quote-cjk-patch"/>
              </a:rPr>
              <a:t>/ </a:t>
            </a:r>
            <a:r>
              <a:rPr lang="zh-TW" altLang="en-US" sz="2400" b="0" i="0" dirty="0">
                <a:effectLst/>
                <a:latin typeface="quote-cjk-patch"/>
              </a:rPr>
              <a:t>推廣 </a:t>
            </a:r>
            <a:r>
              <a:rPr lang="en-US" altLang="zh-TW" sz="2400" b="0" i="0" dirty="0">
                <a:effectLst/>
                <a:latin typeface="quote-cjk-patch"/>
              </a:rPr>
              <a:t>/ </a:t>
            </a:r>
            <a:r>
              <a:rPr lang="zh-TW" altLang="en-US" sz="2400" b="0" i="0" dirty="0">
                <a:effectLst/>
                <a:latin typeface="quote-cjk-patch"/>
              </a:rPr>
              <a:t>平均成本</a:t>
            </a:r>
            <a:br>
              <a:rPr lang="zh-TW" altLang="en-US" sz="2400" b="0" i="0" dirty="0">
                <a:effectLst/>
                <a:latin typeface="quote-cjk-patch"/>
              </a:rPr>
            </a:br>
            <a:r>
              <a:rPr lang="zh-TW" altLang="en-US" sz="2400" b="0" i="1" dirty="0">
                <a:effectLst/>
                <a:latin typeface="quote-cjk-patch"/>
              </a:rPr>
              <a:t>市場營銷組合策略 </a:t>
            </a:r>
            <a:r>
              <a:rPr lang="en-US" altLang="zh-TW" sz="2400" b="0" i="1" dirty="0">
                <a:effectLst/>
                <a:latin typeface="quote-cjk-patch"/>
              </a:rPr>
              <a:t>– </a:t>
            </a:r>
            <a:r>
              <a:rPr lang="zh-TW" altLang="en-US" sz="2400" b="0" i="1" dirty="0">
                <a:effectLst/>
                <a:latin typeface="quote-cjk-patch"/>
              </a:rPr>
              <a:t>採用成本加成 </a:t>
            </a:r>
            <a:r>
              <a:rPr lang="en-US" altLang="zh-TW" sz="2400" b="0" i="1" dirty="0">
                <a:effectLst/>
                <a:latin typeface="quote-cjk-patch"/>
              </a:rPr>
              <a:t>/ </a:t>
            </a:r>
            <a:r>
              <a:rPr lang="zh-TW" altLang="en-US" sz="2400" b="0" i="1" dirty="0">
                <a:effectLst/>
                <a:latin typeface="quote-cjk-patch"/>
              </a:rPr>
              <a:t>撇油性訂價策略</a:t>
            </a:r>
            <a:endParaRPr lang="zh-TW" altLang="en-US" sz="2400" b="0" i="0" dirty="0">
              <a:effectLst/>
              <a:latin typeface="quote-cjk-patch"/>
            </a:endParaRPr>
          </a:p>
          <a:p>
            <a:pPr marL="342900" indent="-342900" algn="l">
              <a:buFont typeface="Arial" panose="020B0604020202020204" pitchFamily="34" charset="0"/>
              <a:buChar char="•"/>
            </a:pPr>
            <a:r>
              <a:rPr lang="zh-TW" altLang="en-US" sz="2400" b="0" i="0" dirty="0">
                <a:effectLst/>
                <a:latin typeface="quote-cjk-patch"/>
              </a:rPr>
              <a:t>分銷渠道：由於成本高昂，公司可採用選擇性分銷以測試市場的接受程度</a:t>
            </a:r>
            <a:br>
              <a:rPr lang="zh-TW" altLang="en-US" sz="2400" b="0" i="0" dirty="0">
                <a:effectLst/>
                <a:latin typeface="quote-cjk-patch"/>
              </a:rPr>
            </a:br>
            <a:r>
              <a:rPr lang="zh-TW" altLang="en-US" sz="2400" b="0" i="1" dirty="0">
                <a:effectLst/>
                <a:latin typeface="quote-cjk-patch"/>
              </a:rPr>
              <a:t>市場營銷組合策略 </a:t>
            </a:r>
            <a:r>
              <a:rPr lang="en-US" altLang="zh-TW" sz="2400" b="0" i="1" dirty="0">
                <a:effectLst/>
                <a:latin typeface="quote-cjk-patch"/>
              </a:rPr>
              <a:t>– </a:t>
            </a:r>
            <a:r>
              <a:rPr lang="zh-TW" altLang="en-US" sz="2400" b="0" i="1" dirty="0">
                <a:effectLst/>
                <a:latin typeface="quote-cjk-patch"/>
              </a:rPr>
              <a:t>建立選擇性的分銷密度</a:t>
            </a:r>
            <a:endParaRPr lang="zh-TW" altLang="en-US" sz="2400" b="0" i="0" dirty="0">
              <a:effectLst/>
              <a:latin typeface="quote-cjk-patch"/>
            </a:endParaRPr>
          </a:p>
          <a:p>
            <a:pPr marL="342900" indent="-342900" algn="l">
              <a:buFont typeface="Arial" panose="020B0604020202020204" pitchFamily="34" charset="0"/>
              <a:buChar char="•"/>
            </a:pPr>
            <a:r>
              <a:rPr lang="zh-TW" altLang="en-US" sz="2400" b="0" i="0" dirty="0">
                <a:effectLst/>
                <a:latin typeface="quote-cjk-patch"/>
              </a:rPr>
              <a:t>推廣：由於產品銷量較低 </a:t>
            </a:r>
            <a:r>
              <a:rPr lang="en-US" altLang="zh-TW" sz="2400" b="0" i="0" dirty="0">
                <a:effectLst/>
                <a:latin typeface="quote-cjk-patch"/>
              </a:rPr>
              <a:t>/ </a:t>
            </a:r>
            <a:r>
              <a:rPr lang="zh-TW" altLang="en-US" sz="2400" b="0" i="0" dirty="0">
                <a:effectLst/>
                <a:latin typeface="quote-cjk-patch"/>
              </a:rPr>
              <a:t>銷售增長緩慢，公司可採用大量廣告和促銷（如抽獎），以吸引顧客嘗試和建立對產品的認知</a:t>
            </a:r>
            <a:br>
              <a:rPr lang="zh-TW" altLang="en-US" sz="2400" b="0" i="0" dirty="0">
                <a:effectLst/>
                <a:latin typeface="quote-cjk-patch"/>
              </a:rPr>
            </a:br>
            <a:r>
              <a:rPr lang="zh-TW" altLang="en-US" sz="2400" b="0" i="1" dirty="0">
                <a:effectLst/>
                <a:latin typeface="quote-cjk-patch"/>
              </a:rPr>
              <a:t>市場營銷組合策略 </a:t>
            </a:r>
            <a:r>
              <a:rPr lang="en-US" altLang="zh-TW" sz="2400" b="0" i="1" dirty="0">
                <a:effectLst/>
                <a:latin typeface="quote-cjk-patch"/>
              </a:rPr>
              <a:t>– </a:t>
            </a:r>
            <a:r>
              <a:rPr lang="zh-TW" altLang="en-US" sz="2400" b="0" i="1" dirty="0">
                <a:effectLst/>
                <a:latin typeface="quote-cjk-patch"/>
              </a:rPr>
              <a:t>採用大量廣告和促銷</a:t>
            </a:r>
            <a:endParaRPr lang="zh-TW" altLang="en-US" sz="2400" b="0" i="0" dirty="0">
              <a:effectLst/>
              <a:latin typeface="quote-cjk-patch"/>
            </a:endParaRPr>
          </a:p>
          <a:p>
            <a:pPr algn="l"/>
            <a:r>
              <a:rPr lang="en-US" altLang="zh-TW" sz="2400" b="0" i="0" dirty="0">
                <a:effectLst/>
                <a:latin typeface="quote-cjk-patch"/>
              </a:rPr>
              <a:t>(</a:t>
            </a:r>
            <a:r>
              <a:rPr lang="zh-TW" altLang="en-US" sz="2400" b="0" i="0" dirty="0">
                <a:effectLst/>
                <a:latin typeface="quote-cjk-patch"/>
              </a:rPr>
              <a:t>每項營銷策略的元素</a:t>
            </a:r>
            <a:r>
              <a:rPr lang="en-US" altLang="zh-TW" sz="2400" b="0" i="0" dirty="0">
                <a:effectLst/>
                <a:latin typeface="quote-cjk-patch"/>
              </a:rPr>
              <a:t>3</a:t>
            </a:r>
            <a:r>
              <a:rPr lang="zh-TW" altLang="en-US" sz="2400" b="0" i="0" dirty="0">
                <a:effectLst/>
                <a:latin typeface="quote-cjk-patch"/>
              </a:rPr>
              <a:t>分，最高</a:t>
            </a:r>
            <a:r>
              <a:rPr lang="en-US" altLang="zh-TW" sz="2400" b="0" i="0" dirty="0">
                <a:effectLst/>
                <a:latin typeface="quote-cjk-patch"/>
              </a:rPr>
              <a:t>9</a:t>
            </a:r>
            <a:r>
              <a:rPr lang="zh-TW" altLang="en-US" sz="2400" b="0" i="0" dirty="0">
                <a:effectLst/>
                <a:latin typeface="quote-cjk-patch"/>
              </a:rPr>
              <a:t>分</a:t>
            </a:r>
            <a:r>
              <a:rPr lang="en-US" altLang="zh-TW" sz="2400" b="0" i="0" dirty="0">
                <a:effectLst/>
                <a:latin typeface="quote-cjk-patch"/>
              </a:rPr>
              <a:t>)</a:t>
            </a:r>
          </a:p>
        </p:txBody>
      </p:sp>
    </p:spTree>
    <p:extLst>
      <p:ext uri="{BB962C8B-B14F-4D97-AF65-F5344CB8AC3E}">
        <p14:creationId xmlns:p14="http://schemas.microsoft.com/office/powerpoint/2010/main" val="6166545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EF449FD7-D354-4E3D-8122-4DF7977C799A}"/>
              </a:ext>
            </a:extLst>
          </p:cNvPr>
          <p:cNvPicPr>
            <a:picLocks noChangeAspect="1"/>
          </p:cNvPicPr>
          <p:nvPr/>
        </p:nvPicPr>
        <p:blipFill>
          <a:blip r:embed="rId2"/>
          <a:stretch>
            <a:fillRect/>
          </a:stretch>
        </p:blipFill>
        <p:spPr>
          <a:xfrm>
            <a:off x="0" y="395046"/>
            <a:ext cx="12192000" cy="6067907"/>
          </a:xfrm>
          <a:prstGeom prst="rect">
            <a:avLst/>
          </a:prstGeom>
        </p:spPr>
      </p:pic>
      <p:sp>
        <p:nvSpPr>
          <p:cNvPr id="6" name="橢圓 5">
            <a:extLst>
              <a:ext uri="{FF2B5EF4-FFF2-40B4-BE49-F238E27FC236}">
                <a16:creationId xmlns:a16="http://schemas.microsoft.com/office/drawing/2014/main" id="{812DE44F-A6AB-41C0-A14D-657E2EBF8A4D}"/>
              </a:ext>
            </a:extLst>
          </p:cNvPr>
          <p:cNvSpPr/>
          <p:nvPr/>
        </p:nvSpPr>
        <p:spPr>
          <a:xfrm>
            <a:off x="4386903" y="5550705"/>
            <a:ext cx="1512117" cy="60816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橢圓 3">
            <a:extLst>
              <a:ext uri="{FF2B5EF4-FFF2-40B4-BE49-F238E27FC236}">
                <a16:creationId xmlns:a16="http://schemas.microsoft.com/office/drawing/2014/main" id="{19625ED7-01A1-42C8-A470-2E2CD3D37174}"/>
              </a:ext>
            </a:extLst>
          </p:cNvPr>
          <p:cNvSpPr/>
          <p:nvPr/>
        </p:nvSpPr>
        <p:spPr>
          <a:xfrm>
            <a:off x="8177635" y="5485459"/>
            <a:ext cx="1512117" cy="60816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491262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.3– 24.8b(10)</a:t>
            </a:r>
            <a:endParaRPr kumimoji="1" lang="zh-HK" altLang="en-US" dirty="0"/>
          </a:p>
        </p:txBody>
      </p:sp>
      <p:sp>
        <p:nvSpPr>
          <p:cNvPr id="8" name="文字方塊 7">
            <a:extLst>
              <a:ext uri="{FF2B5EF4-FFF2-40B4-BE49-F238E27FC236}">
                <a16:creationId xmlns:a16="http://schemas.microsoft.com/office/drawing/2014/main" id="{27C04369-19DB-459E-BD0E-B18CC96189A4}"/>
              </a:ext>
            </a:extLst>
          </p:cNvPr>
          <p:cNvSpPr txBox="1"/>
          <p:nvPr/>
        </p:nvSpPr>
        <p:spPr>
          <a:xfrm>
            <a:off x="405352" y="955258"/>
            <a:ext cx="10718275" cy="2862322"/>
          </a:xfrm>
          <a:prstGeom prst="rect">
            <a:avLst/>
          </a:prstGeom>
          <a:noFill/>
        </p:spPr>
        <p:txBody>
          <a:bodyPr wrap="square">
            <a:spAutoFit/>
          </a:bodyPr>
          <a:lstStyle/>
          <a:p>
            <a:pPr algn="just"/>
            <a:r>
              <a:rPr lang="zh-TW" altLang="en-US" sz="3600" b="0" i="0" dirty="0">
                <a:effectLst/>
                <a:latin typeface="quote-cjk-patch"/>
              </a:rPr>
              <a:t>近日，一家本地銀行決定結束一些錄得虧損的分行。總經理對部份分行結束後如何維持服務質素表示關注</a:t>
            </a:r>
            <a:r>
              <a:rPr lang="zh-TW" altLang="en-US" sz="3600" dirty="0">
                <a:latin typeface="quote-cjk-patch"/>
              </a:rPr>
              <a:t>。</a:t>
            </a:r>
            <a:endParaRPr lang="en-US" altLang="zh-TW" sz="3600" dirty="0">
              <a:latin typeface="quote-cjk-patch"/>
            </a:endParaRPr>
          </a:p>
          <a:p>
            <a:pPr algn="just"/>
            <a:endParaRPr lang="zh-TW" altLang="en-US" sz="3600" dirty="0">
              <a:latin typeface="quote-cjk-patch"/>
            </a:endParaRPr>
          </a:p>
          <a:p>
            <a:pPr algn="just"/>
            <a:r>
              <a:rPr lang="zh-TW" altLang="en-US" sz="3600" dirty="0">
                <a:latin typeface="quote-cjk-patch"/>
              </a:rPr>
              <a:t>就服務的「易逝」和「不可分割」特性，建議銀行在部分分行結束後維持服務質素的方法。 </a:t>
            </a:r>
            <a:r>
              <a:rPr lang="en-US" altLang="zh-TW" sz="3600" dirty="0">
                <a:latin typeface="quote-cjk-patch"/>
              </a:rPr>
              <a:t>		</a:t>
            </a:r>
            <a:r>
              <a:rPr lang="zh-TW" altLang="en-US" sz="3600" dirty="0">
                <a:latin typeface="quote-cjk-patch"/>
              </a:rPr>
              <a:t>（</a:t>
            </a:r>
            <a:r>
              <a:rPr lang="en-US" altLang="zh-TW" sz="3600" dirty="0">
                <a:latin typeface="quote-cjk-patch"/>
              </a:rPr>
              <a:t>10</a:t>
            </a:r>
            <a:r>
              <a:rPr lang="zh-TW" altLang="en-US" sz="3600" dirty="0">
                <a:latin typeface="quote-cjk-patch"/>
              </a:rPr>
              <a:t>分）</a:t>
            </a:r>
          </a:p>
        </p:txBody>
      </p:sp>
    </p:spTree>
    <p:extLst>
      <p:ext uri="{BB962C8B-B14F-4D97-AF65-F5344CB8AC3E}">
        <p14:creationId xmlns:p14="http://schemas.microsoft.com/office/powerpoint/2010/main" val="31539031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D00ED518-1106-409A-8A03-2052263C278D}"/>
              </a:ext>
            </a:extLst>
          </p:cNvPr>
          <p:cNvSpPr>
            <a:spLocks noGrp="1"/>
          </p:cNvSpPr>
          <p:nvPr>
            <p:ph idx="1"/>
          </p:nvPr>
        </p:nvSpPr>
        <p:spPr>
          <a:xfrm>
            <a:off x="733545" y="1215341"/>
            <a:ext cx="10724909" cy="5184565"/>
          </a:xfrm>
        </p:spPr>
        <p:txBody>
          <a:bodyPr>
            <a:normAutofit fontScale="92500" lnSpcReduction="10000"/>
          </a:bodyPr>
          <a:lstStyle/>
          <a:p>
            <a:pPr marL="0" indent="0" algn="l">
              <a:buNone/>
            </a:pPr>
            <a:r>
              <a:rPr lang="zh-TW" altLang="en-US" sz="2400" b="1" u="sng" dirty="0">
                <a:effectLst/>
                <a:latin typeface="quote-cjk-patch"/>
              </a:rPr>
              <a:t>易逝性：</a:t>
            </a:r>
          </a:p>
          <a:p>
            <a:pPr marL="342900" indent="-342900" algn="l">
              <a:buFont typeface="Arial" panose="020B0604020202020204" pitchFamily="34" charset="0"/>
              <a:buChar char="•"/>
            </a:pPr>
            <a:r>
              <a:rPr lang="zh-TW" altLang="en-US" sz="2400" dirty="0">
                <a:latin typeface="quote-cjk-patch"/>
              </a:rPr>
              <a:t>預約</a:t>
            </a:r>
            <a:r>
              <a:rPr lang="zh-TW" altLang="en-US" sz="2400" b="0" i="0" dirty="0">
                <a:effectLst/>
                <a:latin typeface="quote-cjk-patch"/>
              </a:rPr>
              <a:t>：例如要求開立戶口的客戶預約／客戶可在流動應用程式預先取得等號</a:t>
            </a:r>
          </a:p>
          <a:p>
            <a:pPr marL="342900" indent="-342900" algn="l">
              <a:buFont typeface="Arial" panose="020B0604020202020204" pitchFamily="34" charset="0"/>
              <a:buChar char="•"/>
            </a:pPr>
            <a:r>
              <a:rPr lang="zh-TW" altLang="en-US" sz="2400" b="0" i="0" dirty="0">
                <a:effectLst/>
                <a:latin typeface="quote-cjk-patch"/>
              </a:rPr>
              <a:t>增加服務額：例如在繁忙時段僱用兼職員工／在週末和假日為重要客戶提供額外服務</a:t>
            </a:r>
          </a:p>
          <a:p>
            <a:pPr marL="342900" indent="-342900" algn="l">
              <a:buFont typeface="Arial" panose="020B0604020202020204" pitchFamily="34" charset="0"/>
              <a:buChar char="•"/>
            </a:pPr>
            <a:r>
              <a:rPr lang="zh-TW" altLang="en-US" sz="2400" b="0" i="0" dirty="0">
                <a:effectLst/>
                <a:latin typeface="quote-cjk-patch"/>
              </a:rPr>
              <a:t>延長分行在特別時段例如農曆新年前的辦公時間</a:t>
            </a:r>
          </a:p>
          <a:p>
            <a:pPr marL="342900" indent="-342900" algn="l">
              <a:buFont typeface="Arial" panose="020B0604020202020204" pitchFamily="34" charset="0"/>
              <a:buChar char="•"/>
            </a:pPr>
            <a:r>
              <a:rPr lang="zh-TW" altLang="en-US" sz="2400" b="0" i="0" dirty="0">
                <a:effectLst/>
                <a:latin typeface="quote-cjk-patch"/>
              </a:rPr>
              <a:t>在繁忙時間增加服務櫃位</a:t>
            </a:r>
          </a:p>
          <a:p>
            <a:pPr marL="342900" indent="-342900" algn="l">
              <a:buFont typeface="Arial" panose="020B0604020202020204" pitchFamily="34" charset="0"/>
              <a:buChar char="•"/>
            </a:pPr>
            <a:r>
              <a:rPr lang="zh-TW" altLang="en-US" sz="2400" b="0" i="0" dirty="0">
                <a:effectLst/>
                <a:latin typeface="quote-cjk-patch"/>
              </a:rPr>
              <a:t>增加顧客參與／自動化：例如設立更多櫃員機和推廣網上理財，以鼓勵客戶使用電子理財和自助服務</a:t>
            </a:r>
            <a:endParaRPr lang="en-US" altLang="zh-TW" sz="2400" b="0" i="0" dirty="0">
              <a:effectLst/>
              <a:latin typeface="quote-cjk-patch"/>
            </a:endParaRPr>
          </a:p>
          <a:p>
            <a:pPr marL="342900" indent="-342900" algn="l">
              <a:buFont typeface="Arial" panose="020B0604020202020204" pitchFamily="34" charset="0"/>
              <a:buChar char="•"/>
            </a:pPr>
            <a:endParaRPr lang="zh-TW" altLang="en-US" sz="2400" b="0" i="0" dirty="0">
              <a:effectLst/>
              <a:latin typeface="quote-cjk-patch"/>
            </a:endParaRPr>
          </a:p>
          <a:p>
            <a:pPr marL="0" indent="0" algn="l">
              <a:buNone/>
            </a:pPr>
            <a:r>
              <a:rPr lang="zh-TW" altLang="en-US" sz="2400" b="1" u="sng" dirty="0">
                <a:effectLst/>
                <a:latin typeface="quote-cjk-patch"/>
              </a:rPr>
              <a:t>不可分割性：</a:t>
            </a:r>
          </a:p>
          <a:p>
            <a:pPr marL="342900" indent="-342900" algn="l">
              <a:buFont typeface="Arial" panose="020B0604020202020204" pitchFamily="34" charset="0"/>
              <a:buChar char="•"/>
            </a:pPr>
            <a:r>
              <a:rPr lang="zh-TW" altLang="en-US" sz="2400" b="0" i="0" dirty="0">
                <a:effectLst/>
                <a:latin typeface="quote-cjk-patch"/>
              </a:rPr>
              <a:t>培訓：例如向銀行櫃員和顧客關係經理提供培訓以維持良好客戶互動及服務質素</a:t>
            </a:r>
          </a:p>
          <a:p>
            <a:pPr marL="342900" indent="-342900" algn="l">
              <a:buFont typeface="Arial" panose="020B0604020202020204" pitchFamily="34" charset="0"/>
              <a:buChar char="•"/>
            </a:pPr>
            <a:r>
              <a:rPr lang="zh-TW" altLang="en-US" sz="2400" b="0" i="0" dirty="0">
                <a:effectLst/>
                <a:latin typeface="quote-cjk-patch"/>
              </a:rPr>
              <a:t>人際／溝通技巧工作坊</a:t>
            </a:r>
          </a:p>
          <a:p>
            <a:pPr marL="342900" indent="-342900" algn="l">
              <a:buFont typeface="Arial" panose="020B0604020202020204" pitchFamily="34" charset="0"/>
              <a:buChar char="•"/>
            </a:pPr>
            <a:r>
              <a:rPr lang="zh-TW" altLang="en-US" sz="2400" b="0" i="0" dirty="0">
                <a:effectLst/>
                <a:latin typeface="quote-cjk-patch"/>
              </a:rPr>
              <a:t>應用科技以減低與客戶的接觸：例如透過網上理財及人工智能對話解答客戶的一般查詢</a:t>
            </a:r>
            <a:endParaRPr lang="zh-HK" altLang="en-US" sz="2400" dirty="0"/>
          </a:p>
        </p:txBody>
      </p:sp>
      <p:sp>
        <p:nvSpPr>
          <p:cNvPr id="6" name="標題 1">
            <a:extLst>
              <a:ext uri="{FF2B5EF4-FFF2-40B4-BE49-F238E27FC236}">
                <a16:creationId xmlns:a16="http://schemas.microsoft.com/office/drawing/2014/main" id="{F2348CBD-8F79-4CC1-9802-20FDF8895DCC}"/>
              </a:ext>
            </a:extLst>
          </p:cNvPr>
          <p:cNvSpPr>
            <a:spLocks noGrp="1"/>
          </p:cNvSpPr>
          <p:nvPr>
            <p:ph type="title"/>
          </p:nvPr>
        </p:nvSpPr>
        <p:spPr>
          <a:xfrm>
            <a:off x="173620" y="284473"/>
            <a:ext cx="10515600" cy="599262"/>
          </a:xfrm>
        </p:spPr>
        <p:txBody>
          <a:bodyPr>
            <a:noAutofit/>
          </a:bodyPr>
          <a:lstStyle/>
          <a:p>
            <a:r>
              <a:rPr kumimoji="1" lang="en-US" altLang="zh-TW" sz="4800" dirty="0"/>
              <a:t>6</a:t>
            </a:r>
            <a:r>
              <a:rPr kumimoji="1" lang="en-US" altLang="zh-HK" sz="4800" dirty="0"/>
              <a:t>.3– 24.8b(10)</a:t>
            </a:r>
            <a:endParaRPr kumimoji="1" lang="zh-HK" altLang="en-US" sz="4800" dirty="0"/>
          </a:p>
        </p:txBody>
      </p:sp>
    </p:spTree>
    <p:extLst>
      <p:ext uri="{BB962C8B-B14F-4D97-AF65-F5344CB8AC3E}">
        <p14:creationId xmlns:p14="http://schemas.microsoft.com/office/powerpoint/2010/main" val="8359569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196769" y="92073"/>
            <a:ext cx="10515600" cy="599262"/>
          </a:xfrm>
        </p:spPr>
        <p:txBody>
          <a:bodyPr>
            <a:normAutofit fontScale="90000"/>
          </a:bodyPr>
          <a:lstStyle/>
          <a:p>
            <a:r>
              <a:rPr kumimoji="1" lang="en-US" altLang="zh-TW" dirty="0"/>
              <a:t>6</a:t>
            </a:r>
            <a:r>
              <a:rPr kumimoji="1" lang="en-US" altLang="zh-HK" dirty="0"/>
              <a:t>.3– 24.8b(10)</a:t>
            </a:r>
            <a:endParaRPr kumimoji="1" lang="zh-HK" altLang="en-US" dirty="0"/>
          </a:p>
        </p:txBody>
      </p:sp>
      <p:sp>
        <p:nvSpPr>
          <p:cNvPr id="5" name="文字方塊 4">
            <a:extLst>
              <a:ext uri="{FF2B5EF4-FFF2-40B4-BE49-F238E27FC236}">
                <a16:creationId xmlns:a16="http://schemas.microsoft.com/office/drawing/2014/main" id="{4D52C12C-E6D6-4D80-9635-74ECE4355867}"/>
              </a:ext>
            </a:extLst>
          </p:cNvPr>
          <p:cNvSpPr txBox="1"/>
          <p:nvPr/>
        </p:nvSpPr>
        <p:spPr>
          <a:xfrm>
            <a:off x="583626" y="1200621"/>
            <a:ext cx="11283884" cy="4322722"/>
          </a:xfrm>
          <a:prstGeom prst="rect">
            <a:avLst/>
          </a:prstGeom>
          <a:noFill/>
        </p:spPr>
        <p:txBody>
          <a:bodyPr wrap="square">
            <a:spAutoFit/>
          </a:bodyPr>
          <a:lstStyle/>
          <a:p>
            <a:pPr algn="l"/>
            <a:r>
              <a:rPr lang="zh-TW" altLang="en-US" sz="4000" b="0" i="0" dirty="0">
                <a:effectLst/>
                <a:latin typeface="quote-cjk-patch"/>
              </a:rPr>
              <a:t>答案框架 </a:t>
            </a:r>
            <a:r>
              <a:rPr lang="en-US" altLang="zh-TW" sz="4000" b="0" i="0" dirty="0">
                <a:effectLst/>
                <a:latin typeface="quote-cjk-patch"/>
              </a:rPr>
              <a:t>- </a:t>
            </a:r>
            <a:r>
              <a:rPr lang="zh-TW" altLang="en-US" sz="4000" b="0" i="0" dirty="0">
                <a:effectLst/>
                <a:latin typeface="quote-cjk-patch"/>
              </a:rPr>
              <a:t>方式</a:t>
            </a:r>
            <a:r>
              <a:rPr lang="en-US" altLang="zh-TW" sz="4000" b="0" i="0" dirty="0">
                <a:effectLst/>
                <a:latin typeface="quote-cjk-patch"/>
              </a:rPr>
              <a:t>(1</a:t>
            </a:r>
            <a:r>
              <a:rPr lang="zh-TW" altLang="en-US" sz="4000" b="0" i="0" dirty="0">
                <a:effectLst/>
                <a:latin typeface="quote-cjk-patch"/>
              </a:rPr>
              <a:t>分</a:t>
            </a:r>
            <a:r>
              <a:rPr lang="en-US" altLang="zh-TW" sz="4000" b="0" i="0" dirty="0">
                <a:effectLst/>
                <a:latin typeface="quote-cjk-patch"/>
              </a:rPr>
              <a:t>)+ </a:t>
            </a:r>
            <a:r>
              <a:rPr lang="zh-TW" altLang="en-US" sz="4000" b="0" i="0" dirty="0">
                <a:effectLst/>
                <a:latin typeface="quote-cjk-patch"/>
              </a:rPr>
              <a:t>詳細行動</a:t>
            </a:r>
            <a:r>
              <a:rPr lang="en-US" altLang="zh-TW" sz="4000" b="0" i="0" dirty="0">
                <a:effectLst/>
                <a:latin typeface="quote-cjk-patch"/>
              </a:rPr>
              <a:t>(2</a:t>
            </a:r>
            <a:r>
              <a:rPr lang="zh-TW" altLang="en-US" sz="4000" b="0" i="0" dirty="0">
                <a:effectLst/>
                <a:latin typeface="quote-cjk-patch"/>
              </a:rPr>
              <a:t>分</a:t>
            </a:r>
            <a:r>
              <a:rPr lang="en-US" altLang="zh-TW" sz="4000" b="0" i="0" dirty="0">
                <a:effectLst/>
                <a:latin typeface="quote-cjk-patch"/>
              </a:rPr>
              <a:t>)</a:t>
            </a:r>
          </a:p>
          <a:p>
            <a:pPr algn="l"/>
            <a:endParaRPr lang="en-US" altLang="zh-TW" sz="3200" b="0" i="0" dirty="0">
              <a:effectLst/>
              <a:latin typeface="quote-cjk-patch"/>
            </a:endParaRPr>
          </a:p>
          <a:p>
            <a:pPr algn="l"/>
            <a:r>
              <a:rPr lang="zh-TW" altLang="en-US" sz="3200" b="0" i="0" dirty="0">
                <a:effectLst/>
                <a:latin typeface="quote-cjk-patch"/>
              </a:rPr>
              <a:t>（以銀行為背景）</a:t>
            </a:r>
            <a:br>
              <a:rPr lang="zh-TW" altLang="en-US" sz="3200" b="0" i="0" dirty="0">
                <a:effectLst/>
                <a:latin typeface="quote-cjk-patch"/>
              </a:rPr>
            </a:br>
            <a:r>
              <a:rPr lang="zh-TW" altLang="en-US" sz="3200" b="0" i="0" u="sng" dirty="0">
                <a:effectLst/>
                <a:latin typeface="quote-cjk-patch"/>
              </a:rPr>
              <a:t>備註：</a:t>
            </a:r>
          </a:p>
          <a:p>
            <a:pPr marL="342900" indent="-342900" algn="l">
              <a:lnSpc>
                <a:spcPct val="150000"/>
              </a:lnSpc>
              <a:buFont typeface="Arial" panose="020B0604020202020204" pitchFamily="34" charset="0"/>
              <a:buChar char="•"/>
            </a:pPr>
            <a:r>
              <a:rPr lang="zh-TW" altLang="en-US" sz="3200" b="0" i="0" dirty="0">
                <a:effectLst/>
                <a:latin typeface="quote-cjk-patch"/>
              </a:rPr>
              <a:t>至少一個方式已在「易逝性」或「不可分割性」中討論過</a:t>
            </a:r>
          </a:p>
          <a:p>
            <a:pPr marL="342900" indent="-342900" algn="l">
              <a:lnSpc>
                <a:spcPct val="150000"/>
              </a:lnSpc>
              <a:buFont typeface="Arial" panose="020B0604020202020204" pitchFamily="34" charset="0"/>
              <a:buChar char="•"/>
            </a:pPr>
            <a:r>
              <a:rPr lang="zh-TW" altLang="en-US" sz="3200" b="0" i="0" dirty="0">
                <a:effectLst/>
                <a:latin typeface="quote-cjk-patch"/>
              </a:rPr>
              <a:t>將所有要點寫成一段，並直接引用例子，無需進一步闡述</a:t>
            </a:r>
          </a:p>
          <a:p>
            <a:pPr marL="342900" indent="-342900" algn="l">
              <a:lnSpc>
                <a:spcPct val="150000"/>
              </a:lnSpc>
              <a:buFont typeface="Arial" panose="020B0604020202020204" pitchFamily="34" charset="0"/>
              <a:buChar char="•"/>
            </a:pPr>
            <a:r>
              <a:rPr lang="zh-TW" altLang="en-US" sz="3200" b="0" i="0" dirty="0">
                <a:effectLst/>
                <a:latin typeface="quote-cjk-patch"/>
              </a:rPr>
              <a:t>沒有清楚說明該要點是關於「易逝性」還是「不可分割性」</a:t>
            </a:r>
          </a:p>
        </p:txBody>
      </p:sp>
    </p:spTree>
    <p:extLst>
      <p:ext uri="{BB962C8B-B14F-4D97-AF65-F5344CB8AC3E}">
        <p14:creationId xmlns:p14="http://schemas.microsoft.com/office/powerpoint/2010/main" val="9091144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E1DFEA-C9B7-43F9-97B2-4E426FA1B7B7}"/>
              </a:ext>
            </a:extLst>
          </p:cNvPr>
          <p:cNvSpPr>
            <a:spLocks noGrp="1"/>
          </p:cNvSpPr>
          <p:nvPr>
            <p:ph type="title"/>
          </p:nvPr>
        </p:nvSpPr>
        <p:spPr/>
        <p:txBody>
          <a:bodyPr/>
          <a:lstStyle/>
          <a:p>
            <a:r>
              <a:rPr lang="zh-TW" altLang="en-US" dirty="0"/>
              <a:t>常見錯誤</a:t>
            </a:r>
            <a:endParaRPr lang="zh-HK" altLang="en-US" dirty="0"/>
          </a:p>
        </p:txBody>
      </p:sp>
      <p:sp>
        <p:nvSpPr>
          <p:cNvPr id="3" name="內容版面配置區 2">
            <a:extLst>
              <a:ext uri="{FF2B5EF4-FFF2-40B4-BE49-F238E27FC236}">
                <a16:creationId xmlns:a16="http://schemas.microsoft.com/office/drawing/2014/main" id="{DCCB14A9-83C1-4002-853F-2DA615E6C194}"/>
              </a:ext>
            </a:extLst>
          </p:cNvPr>
          <p:cNvSpPr>
            <a:spLocks noGrp="1"/>
          </p:cNvSpPr>
          <p:nvPr>
            <p:ph idx="1"/>
          </p:nvPr>
        </p:nvSpPr>
        <p:spPr>
          <a:xfrm>
            <a:off x="838200" y="1533393"/>
            <a:ext cx="10515600" cy="4810845"/>
          </a:xfrm>
        </p:spPr>
        <p:txBody>
          <a:bodyPr>
            <a:normAutofit/>
          </a:bodyPr>
          <a:lstStyle/>
          <a:p>
            <a:pPr marL="0" indent="0" algn="l">
              <a:buNone/>
            </a:pPr>
            <a:r>
              <a:rPr lang="zh-TW" altLang="en-US" b="1" u="sng" dirty="0">
                <a:effectLst/>
                <a:latin typeface="quote-cjk-patch"/>
              </a:rPr>
              <a:t>易逝性</a:t>
            </a:r>
          </a:p>
          <a:p>
            <a:pPr algn="l">
              <a:buFont typeface="Arial" panose="020B0604020202020204" pitchFamily="34" charset="0"/>
              <a:buChar char="•"/>
            </a:pPr>
            <a:r>
              <a:rPr lang="zh-TW" altLang="en-US" b="0" i="0" dirty="0">
                <a:effectLst/>
                <a:latin typeface="quote-cjk-patch"/>
              </a:rPr>
              <a:t>貴賓室</a:t>
            </a:r>
          </a:p>
          <a:p>
            <a:pPr algn="l">
              <a:buFont typeface="Arial" panose="020B0604020202020204" pitchFamily="34" charset="0"/>
              <a:buChar char="•"/>
            </a:pPr>
            <a:r>
              <a:rPr lang="zh-TW" altLang="en-US" b="0" i="0" dirty="0">
                <a:effectLst/>
                <a:latin typeface="quote-cjk-patch"/>
              </a:rPr>
              <a:t>設立等候區，提供免費飲品及雜誌</a:t>
            </a:r>
          </a:p>
          <a:p>
            <a:pPr algn="l">
              <a:buFont typeface="Arial" panose="020B0604020202020204" pitchFamily="34" charset="0"/>
              <a:buChar char="•"/>
            </a:pPr>
            <a:r>
              <a:rPr lang="zh-TW" altLang="en-US" b="0" i="0" dirty="0">
                <a:effectLst/>
                <a:latin typeface="quote-cjk-patch"/>
              </a:rPr>
              <a:t>在非繁忙時段提供服務折扣</a:t>
            </a:r>
          </a:p>
          <a:p>
            <a:pPr algn="l">
              <a:buFont typeface="Arial" panose="020B0604020202020204" pitchFamily="34" charset="0"/>
              <a:buChar char="•"/>
            </a:pPr>
            <a:r>
              <a:rPr lang="zh-TW" altLang="en-US" b="0" i="0" dirty="0">
                <a:effectLst/>
                <a:latin typeface="quote-cjk-patch"/>
              </a:rPr>
              <a:t>為餘下員工提供培訓，使他們熟悉銀行內各類工作</a:t>
            </a:r>
          </a:p>
          <a:p>
            <a:pPr algn="l">
              <a:buFont typeface="Arial" panose="020B0604020202020204" pitchFamily="34" charset="0"/>
              <a:buChar char="•"/>
            </a:pPr>
            <a:r>
              <a:rPr lang="zh-TW" altLang="en-US" b="0" i="0" dirty="0">
                <a:effectLst/>
                <a:latin typeface="quote-cjk-patch"/>
              </a:rPr>
              <a:t>拼寫錯誤：登記系統</a:t>
            </a:r>
          </a:p>
          <a:p>
            <a:pPr marL="0" indent="0" algn="l">
              <a:buNone/>
            </a:pPr>
            <a:r>
              <a:rPr lang="zh-TW" altLang="en-US" b="1" u="sng" dirty="0">
                <a:effectLst/>
                <a:latin typeface="quote-cjk-patch"/>
              </a:rPr>
              <a:t>不可分割性</a:t>
            </a:r>
          </a:p>
          <a:p>
            <a:pPr algn="l">
              <a:buFont typeface="Arial" panose="020B0604020202020204" pitchFamily="34" charset="0"/>
              <a:buChar char="•"/>
            </a:pPr>
            <a:r>
              <a:rPr lang="zh-TW" altLang="en-US" b="0" i="0" dirty="0">
                <a:effectLst/>
                <a:latin typeface="quote-cjk-patch"/>
              </a:rPr>
              <a:t>提供程序手冊以說明處理客戶的方法</a:t>
            </a:r>
          </a:p>
          <a:p>
            <a:pPr algn="l">
              <a:buFont typeface="Arial" panose="020B0604020202020204" pitchFamily="34" charset="0"/>
              <a:buChar char="•"/>
            </a:pPr>
            <a:r>
              <a:rPr lang="zh-TW" altLang="en-US" b="0" i="0" dirty="0">
                <a:effectLst/>
                <a:latin typeface="quote-cjk-patch"/>
              </a:rPr>
              <a:t>進行問卷調查以查看員工表現是否良好 → 獎金</a:t>
            </a:r>
            <a:endParaRPr lang="zh-HK" altLang="en-US" dirty="0"/>
          </a:p>
        </p:txBody>
      </p:sp>
      <p:sp>
        <p:nvSpPr>
          <p:cNvPr id="4" name="標題 1">
            <a:extLst>
              <a:ext uri="{FF2B5EF4-FFF2-40B4-BE49-F238E27FC236}">
                <a16:creationId xmlns:a16="http://schemas.microsoft.com/office/drawing/2014/main" id="{E4B7B292-DF4B-4953-BE79-A3BB5E6729B5}"/>
              </a:ext>
            </a:extLst>
          </p:cNvPr>
          <p:cNvSpPr txBox="1">
            <a:spLocks/>
          </p:cNvSpPr>
          <p:nvPr/>
        </p:nvSpPr>
        <p:spPr>
          <a:xfrm>
            <a:off x="196769" y="92073"/>
            <a:ext cx="10515600" cy="59926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a:t>6</a:t>
            </a:r>
            <a:r>
              <a:rPr kumimoji="1" lang="en-US" altLang="zh-HK"/>
              <a:t>.3– 24.8b(10)</a:t>
            </a:r>
            <a:endParaRPr kumimoji="1" lang="zh-HK" altLang="en-US" dirty="0"/>
          </a:p>
        </p:txBody>
      </p:sp>
    </p:spTree>
    <p:extLst>
      <p:ext uri="{BB962C8B-B14F-4D97-AF65-F5344CB8AC3E}">
        <p14:creationId xmlns:p14="http://schemas.microsoft.com/office/powerpoint/2010/main" val="40181899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EF449FD7-D354-4E3D-8122-4DF7977C799A}"/>
              </a:ext>
            </a:extLst>
          </p:cNvPr>
          <p:cNvPicPr>
            <a:picLocks noChangeAspect="1"/>
          </p:cNvPicPr>
          <p:nvPr/>
        </p:nvPicPr>
        <p:blipFill>
          <a:blip r:embed="rId2"/>
          <a:stretch>
            <a:fillRect/>
          </a:stretch>
        </p:blipFill>
        <p:spPr>
          <a:xfrm>
            <a:off x="0" y="395046"/>
            <a:ext cx="12192000" cy="6067907"/>
          </a:xfrm>
          <a:prstGeom prst="rect">
            <a:avLst/>
          </a:prstGeom>
        </p:spPr>
      </p:pic>
      <p:sp>
        <p:nvSpPr>
          <p:cNvPr id="6" name="橢圓 5">
            <a:extLst>
              <a:ext uri="{FF2B5EF4-FFF2-40B4-BE49-F238E27FC236}">
                <a16:creationId xmlns:a16="http://schemas.microsoft.com/office/drawing/2014/main" id="{812DE44F-A6AB-41C0-A14D-657E2EBF8A4D}"/>
              </a:ext>
            </a:extLst>
          </p:cNvPr>
          <p:cNvSpPr/>
          <p:nvPr/>
        </p:nvSpPr>
        <p:spPr>
          <a:xfrm>
            <a:off x="2426127" y="5854788"/>
            <a:ext cx="1512117" cy="60816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橢圓 3">
            <a:extLst>
              <a:ext uri="{FF2B5EF4-FFF2-40B4-BE49-F238E27FC236}">
                <a16:creationId xmlns:a16="http://schemas.microsoft.com/office/drawing/2014/main" id="{19625ED7-01A1-42C8-A470-2E2CD3D37174}"/>
              </a:ext>
            </a:extLst>
          </p:cNvPr>
          <p:cNvSpPr/>
          <p:nvPr/>
        </p:nvSpPr>
        <p:spPr>
          <a:xfrm>
            <a:off x="6056604" y="5854788"/>
            <a:ext cx="1512117" cy="60816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484257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.3– 25.3c(4)</a:t>
            </a:r>
            <a:endParaRPr kumimoji="1" lang="zh-HK" altLang="en-US" dirty="0"/>
          </a:p>
        </p:txBody>
      </p:sp>
      <p:sp>
        <p:nvSpPr>
          <p:cNvPr id="7" name="文字方塊 6">
            <a:extLst>
              <a:ext uri="{FF2B5EF4-FFF2-40B4-BE49-F238E27FC236}">
                <a16:creationId xmlns:a16="http://schemas.microsoft.com/office/drawing/2014/main" id="{C3EFAB00-AF2E-4F81-8247-16D795853C0E}"/>
              </a:ext>
            </a:extLst>
          </p:cNvPr>
          <p:cNvSpPr txBox="1"/>
          <p:nvPr/>
        </p:nvSpPr>
        <p:spPr>
          <a:xfrm>
            <a:off x="463954" y="763955"/>
            <a:ext cx="11264092" cy="2554545"/>
          </a:xfrm>
          <a:prstGeom prst="rect">
            <a:avLst/>
          </a:prstGeom>
          <a:noFill/>
        </p:spPr>
        <p:txBody>
          <a:bodyPr wrap="square">
            <a:spAutoFit/>
          </a:bodyPr>
          <a:lstStyle/>
          <a:p>
            <a:r>
              <a:rPr lang="zh-TW" altLang="en-US" sz="3200" b="0" i="0" dirty="0">
                <a:effectLst/>
                <a:latin typeface="quote-cjk-patch"/>
              </a:rPr>
              <a:t>一家舞蹈學校為提升舞蹈導師的跳舞技巧及教學技巧，向他們提供不同種類的在職培訓及海外交流的機會。</a:t>
            </a:r>
            <a:endParaRPr lang="en-US" altLang="zh-TW" sz="3200" b="0" i="0" dirty="0">
              <a:effectLst/>
              <a:latin typeface="quote-cjk-patch"/>
            </a:endParaRPr>
          </a:p>
          <a:p>
            <a:endParaRPr lang="en-US" altLang="zh-HK" sz="3200" dirty="0">
              <a:latin typeface="quote-cjk-patch"/>
            </a:endParaRPr>
          </a:p>
          <a:p>
            <a:r>
              <a:rPr lang="zh-TW" altLang="en-US" sz="3200" b="0" i="0" dirty="0">
                <a:effectLst/>
                <a:latin typeface="quote-cjk-patch"/>
              </a:rPr>
              <a:t>就服務的「無形」和「異質」特性，向舞蹈學校各建議一個吸引顧客的方法。</a:t>
            </a:r>
            <a:r>
              <a:rPr lang="en-US" altLang="zh-TW" sz="3200" b="0" i="0" dirty="0">
                <a:effectLst/>
                <a:latin typeface="quote-cjk-patch"/>
              </a:rPr>
              <a:t>								</a:t>
            </a:r>
            <a:r>
              <a:rPr lang="zh-TW" altLang="en-US" sz="3200" b="0" i="0" dirty="0">
                <a:effectLst/>
                <a:latin typeface="quote-cjk-patch"/>
              </a:rPr>
              <a:t>（</a:t>
            </a:r>
            <a:r>
              <a:rPr lang="en-US" altLang="zh-TW" sz="3200" b="0" i="0" dirty="0">
                <a:effectLst/>
                <a:latin typeface="quote-cjk-patch"/>
              </a:rPr>
              <a:t>4</a:t>
            </a:r>
            <a:r>
              <a:rPr lang="zh-TW" altLang="en-US" sz="3200" b="0" i="0" dirty="0">
                <a:effectLst/>
                <a:latin typeface="quote-cjk-patch"/>
              </a:rPr>
              <a:t>分）</a:t>
            </a:r>
            <a:endParaRPr lang="zh-HK" altLang="en-US" sz="3200" dirty="0"/>
          </a:p>
        </p:txBody>
      </p:sp>
    </p:spTree>
    <p:extLst>
      <p:ext uri="{BB962C8B-B14F-4D97-AF65-F5344CB8AC3E}">
        <p14:creationId xmlns:p14="http://schemas.microsoft.com/office/powerpoint/2010/main" val="24494812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Autofit/>
          </a:bodyPr>
          <a:lstStyle/>
          <a:p>
            <a:r>
              <a:rPr kumimoji="1" lang="en-US" altLang="zh-TW" sz="5400" dirty="0"/>
              <a:t>6</a:t>
            </a:r>
            <a:r>
              <a:rPr kumimoji="1" lang="en-US" altLang="zh-HK" sz="5400" dirty="0"/>
              <a:t>.3– 25.3c(4)</a:t>
            </a:r>
            <a:endParaRPr kumimoji="1" lang="zh-HK" altLang="en-US" sz="5400" dirty="0"/>
          </a:p>
        </p:txBody>
      </p:sp>
      <p:sp>
        <p:nvSpPr>
          <p:cNvPr id="6" name="文字方塊 5">
            <a:extLst>
              <a:ext uri="{FF2B5EF4-FFF2-40B4-BE49-F238E27FC236}">
                <a16:creationId xmlns:a16="http://schemas.microsoft.com/office/drawing/2014/main" id="{A296BA63-B8D4-41AC-B083-31308A0520DF}"/>
              </a:ext>
            </a:extLst>
          </p:cNvPr>
          <p:cNvSpPr txBox="1"/>
          <p:nvPr/>
        </p:nvSpPr>
        <p:spPr>
          <a:xfrm>
            <a:off x="326746" y="836920"/>
            <a:ext cx="11560454" cy="6001643"/>
          </a:xfrm>
          <a:prstGeom prst="rect">
            <a:avLst/>
          </a:prstGeom>
          <a:noFill/>
        </p:spPr>
        <p:txBody>
          <a:bodyPr wrap="square">
            <a:spAutoFit/>
          </a:bodyPr>
          <a:lstStyle/>
          <a:p>
            <a:pPr algn="l"/>
            <a:r>
              <a:rPr lang="en-US" altLang="zh-TW" sz="3200" b="0" i="0" dirty="0">
                <a:effectLst/>
                <a:latin typeface="quote-cjk-patch"/>
              </a:rPr>
              <a:t>(c) </a:t>
            </a:r>
          </a:p>
          <a:p>
            <a:pPr marL="457200" indent="-457200" algn="l">
              <a:buFont typeface="Arial" panose="020B0604020202020204" pitchFamily="34" charset="0"/>
              <a:buChar char="•"/>
            </a:pPr>
            <a:r>
              <a:rPr lang="zh-TW" altLang="en-US" sz="3200" b="0" i="0" dirty="0">
                <a:effectLst/>
                <a:latin typeface="quote-cjk-patch"/>
              </a:rPr>
              <a:t>無形：例如為舞蹈班提供整潔和設備齊全的活動室，維持舞蹈導師的專業外型和服飾</a:t>
            </a:r>
            <a:endParaRPr lang="en-US" altLang="zh-TW" sz="3200" b="0" i="0" dirty="0">
              <a:effectLst/>
              <a:latin typeface="quote-cjk-patch"/>
            </a:endParaRPr>
          </a:p>
          <a:p>
            <a:pPr marL="457200" indent="-457200" algn="l">
              <a:buFont typeface="Arial" panose="020B0604020202020204" pitchFamily="34" charset="0"/>
              <a:buChar char="•"/>
            </a:pPr>
            <a:r>
              <a:rPr lang="zh-TW" altLang="en-US" sz="3200" b="0" i="0" dirty="0">
                <a:effectLst/>
                <a:latin typeface="quote-cjk-patch"/>
              </a:rPr>
              <a:t>異質：例如為舞蹈導師提供工作指引和培訓以標準化舞蹈課的程序，維持服務一致</a:t>
            </a:r>
          </a:p>
          <a:p>
            <a:pPr algn="l"/>
            <a:r>
              <a:rPr lang="en-US" altLang="zh-TW" sz="3200" b="0" i="0" dirty="0">
                <a:effectLst/>
                <a:latin typeface="quote-cjk-patch"/>
              </a:rPr>
              <a:t>	(</a:t>
            </a:r>
            <a:r>
              <a:rPr lang="zh-TW" altLang="en-US" sz="3200" b="0" i="0" dirty="0">
                <a:effectLst/>
                <a:latin typeface="quote-cjk-patch"/>
              </a:rPr>
              <a:t>每項服務特性</a:t>
            </a:r>
            <a:r>
              <a:rPr lang="en-US" altLang="zh-TW" sz="3200" b="0" i="0" dirty="0">
                <a:effectLst/>
                <a:latin typeface="quote-cjk-patch"/>
              </a:rPr>
              <a:t>2</a:t>
            </a:r>
            <a:r>
              <a:rPr lang="zh-TW" altLang="en-US" sz="3200" b="0" i="0" dirty="0">
                <a:effectLst/>
                <a:latin typeface="quote-cjk-patch"/>
              </a:rPr>
              <a:t>分，最高</a:t>
            </a:r>
            <a:r>
              <a:rPr lang="en-US" altLang="zh-TW" sz="3200" b="0" i="0" dirty="0">
                <a:effectLst/>
                <a:latin typeface="quote-cjk-patch"/>
              </a:rPr>
              <a:t>4</a:t>
            </a:r>
            <a:r>
              <a:rPr lang="zh-TW" altLang="en-US" sz="3200" b="0" i="0" dirty="0">
                <a:effectLst/>
                <a:latin typeface="quote-cjk-patch"/>
              </a:rPr>
              <a:t>分</a:t>
            </a:r>
            <a:r>
              <a:rPr lang="en-US" altLang="zh-TW" sz="3200" b="0" i="0" dirty="0">
                <a:effectLst/>
                <a:latin typeface="quote-cjk-patch"/>
              </a:rPr>
              <a:t>)</a:t>
            </a:r>
          </a:p>
          <a:p>
            <a:pPr marL="457200" indent="-457200" algn="l">
              <a:buFont typeface="Arial" panose="020B0604020202020204" pitchFamily="34" charset="0"/>
              <a:buChar char="•"/>
            </a:pPr>
            <a:r>
              <a:rPr lang="zh-TW" altLang="en-US" sz="3200" b="1" i="0" dirty="0">
                <a:effectLst/>
                <a:latin typeface="quote-cjk-patch"/>
              </a:rPr>
              <a:t>無形</a:t>
            </a:r>
            <a:r>
              <a:rPr lang="zh-TW" altLang="en-US" sz="3200" b="0" i="0" dirty="0">
                <a:effectLst/>
                <a:latin typeface="quote-cjk-patch"/>
              </a:rPr>
              <a:t>：實質或有形線索</a:t>
            </a:r>
            <a:r>
              <a:rPr lang="en-US" altLang="zh-TW" sz="3200" b="0" i="0" dirty="0">
                <a:effectLst/>
                <a:latin typeface="quote-cjk-patch"/>
              </a:rPr>
              <a:t>/</a:t>
            </a:r>
            <a:r>
              <a:rPr lang="zh-TW" altLang="en-US" sz="3200" b="0" i="0" dirty="0">
                <a:effectLst/>
                <a:latin typeface="quote-cjk-patch"/>
              </a:rPr>
              <a:t>證據，</a:t>
            </a:r>
            <a:r>
              <a:rPr lang="zh-TW" altLang="en-US" sz="3200" b="0" i="0" dirty="0">
                <a:effectLst/>
                <a:highlight>
                  <a:srgbClr val="00FFFF"/>
                </a:highlight>
                <a:latin typeface="quote-cjk-patch"/>
              </a:rPr>
              <a:t>展示相片和獎項</a:t>
            </a:r>
            <a:r>
              <a:rPr lang="zh-TW" altLang="en-US" sz="3200" b="0" i="0" dirty="0">
                <a:effectLst/>
                <a:latin typeface="quote-cjk-patch"/>
              </a:rPr>
              <a:t>，良好形象</a:t>
            </a:r>
            <a:r>
              <a:rPr lang="en-US" altLang="zh-TW" sz="3200" b="0" i="0" dirty="0">
                <a:effectLst/>
                <a:latin typeface="quote-cjk-patch"/>
              </a:rPr>
              <a:t>/</a:t>
            </a:r>
            <a:r>
              <a:rPr lang="zh-TW" altLang="en-US" sz="3200" b="0" i="0" dirty="0">
                <a:effectLst/>
                <a:latin typeface="quote-cjk-patch"/>
              </a:rPr>
              <a:t>印象，</a:t>
            </a:r>
            <a:r>
              <a:rPr lang="zh-TW" altLang="en-US" sz="3200" b="0" i="0" dirty="0">
                <a:effectLst/>
                <a:highlight>
                  <a:srgbClr val="FFFF00"/>
                </a:highlight>
                <a:latin typeface="quote-cjk-patch"/>
              </a:rPr>
              <a:t>吸引顧客</a:t>
            </a:r>
          </a:p>
          <a:p>
            <a:pPr marL="457200" indent="-457200" algn="l">
              <a:buFont typeface="Arial" panose="020B0604020202020204" pitchFamily="34" charset="0"/>
              <a:buChar char="•"/>
            </a:pPr>
            <a:r>
              <a:rPr lang="zh-TW" altLang="en-US" sz="3200" b="1" i="0" dirty="0">
                <a:effectLst/>
                <a:latin typeface="quote-cjk-patch"/>
              </a:rPr>
              <a:t>異質</a:t>
            </a:r>
            <a:r>
              <a:rPr lang="zh-TW" altLang="en-US" sz="3200" b="0" i="0" dirty="0">
                <a:effectLst/>
                <a:latin typeface="quote-cjk-patch"/>
              </a:rPr>
              <a:t>：標準化，培訓以</a:t>
            </a:r>
            <a:r>
              <a:rPr lang="zh-TW" altLang="en-US" sz="3200" b="0" i="0" dirty="0">
                <a:effectLst/>
                <a:highlight>
                  <a:srgbClr val="00FFFF"/>
                </a:highlight>
                <a:latin typeface="quote-cjk-patch"/>
              </a:rPr>
              <a:t>維持一致性</a:t>
            </a:r>
            <a:r>
              <a:rPr lang="zh-TW" altLang="en-US" sz="3200" b="0" i="0" dirty="0">
                <a:effectLst/>
                <a:latin typeface="quote-cjk-patch"/>
              </a:rPr>
              <a:t>，聘請經驗良好的導師以確保優質教學，</a:t>
            </a:r>
            <a:r>
              <a:rPr lang="zh-TW" altLang="en-US" sz="3200" b="0" i="0" dirty="0">
                <a:effectLst/>
                <a:highlight>
                  <a:srgbClr val="FFFF00"/>
                </a:highlight>
                <a:latin typeface="quote-cjk-patch"/>
              </a:rPr>
              <a:t>吸引顧客</a:t>
            </a:r>
          </a:p>
          <a:p>
            <a:pPr algn="l"/>
            <a:r>
              <a:rPr lang="en-US" altLang="zh-TW" sz="3200" b="0" i="0" dirty="0">
                <a:effectLst/>
                <a:latin typeface="quote-cjk-patch"/>
              </a:rPr>
              <a:t>    </a:t>
            </a:r>
            <a:r>
              <a:rPr lang="en-US" altLang="zh-TW" sz="3200" b="0" i="0" dirty="0">
                <a:solidFill>
                  <a:srgbClr val="FF0000"/>
                </a:solidFill>
                <a:effectLst/>
                <a:latin typeface="quote-cjk-patch"/>
              </a:rPr>
              <a:t>X</a:t>
            </a:r>
            <a:r>
              <a:rPr lang="en-US" altLang="zh-TW" sz="3200" b="0" i="0" dirty="0">
                <a:effectLst/>
                <a:latin typeface="quote-cjk-patch"/>
              </a:rPr>
              <a:t> </a:t>
            </a:r>
            <a:r>
              <a:rPr lang="zh-TW" altLang="en-US" sz="3200" b="0" i="0" dirty="0">
                <a:effectLst/>
                <a:latin typeface="quote-cjk-patch"/>
              </a:rPr>
              <a:t>解釋太空泛或不相關，例如多作推廣</a:t>
            </a:r>
            <a:br>
              <a:rPr lang="zh-TW" altLang="en-US" sz="3200" b="0" i="0" dirty="0">
                <a:effectLst/>
                <a:latin typeface="quote-cjk-patch"/>
              </a:rPr>
            </a:br>
            <a:r>
              <a:rPr lang="zh-TW" altLang="en-US" sz="3200" b="0" i="0" dirty="0">
                <a:effectLst/>
                <a:latin typeface="quote-cjk-patch"/>
              </a:rPr>
              <a:t>    </a:t>
            </a:r>
            <a:r>
              <a:rPr lang="en-US" altLang="zh-TW" sz="3200" b="0" i="0" dirty="0">
                <a:solidFill>
                  <a:srgbClr val="FF0000"/>
                </a:solidFill>
                <a:effectLst/>
                <a:latin typeface="quote-cjk-patch"/>
              </a:rPr>
              <a:t>X</a:t>
            </a:r>
            <a:r>
              <a:rPr lang="en-US" altLang="zh-TW" sz="3200" b="0" i="0" dirty="0">
                <a:effectLst/>
                <a:latin typeface="quote-cjk-patch"/>
              </a:rPr>
              <a:t> </a:t>
            </a:r>
            <a:r>
              <a:rPr lang="zh-TW" altLang="en-US" sz="3200" b="0" i="0" dirty="0">
                <a:effectLst/>
                <a:latin typeface="quote-cjk-patch"/>
              </a:rPr>
              <a:t>只解釋無形和異質的意思，並沒有清楚解釋吸引顧客的方法</a:t>
            </a:r>
          </a:p>
        </p:txBody>
      </p:sp>
    </p:spTree>
    <p:extLst>
      <p:ext uri="{BB962C8B-B14F-4D97-AF65-F5344CB8AC3E}">
        <p14:creationId xmlns:p14="http://schemas.microsoft.com/office/powerpoint/2010/main" val="38317688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7FA8F3CE-4BD9-0B4C-9C0B-D3490E7AB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0429"/>
            <a:ext cx="12192000" cy="4597141"/>
          </a:xfrm>
          <a:prstGeom prst="rect">
            <a:avLst/>
          </a:prstGeom>
        </p:spPr>
      </p:pic>
      <p:sp>
        <p:nvSpPr>
          <p:cNvPr id="6" name="橢圓 5">
            <a:extLst>
              <a:ext uri="{FF2B5EF4-FFF2-40B4-BE49-F238E27FC236}">
                <a16:creationId xmlns:a16="http://schemas.microsoft.com/office/drawing/2014/main" id="{1DB5B348-A592-425E-8DFC-0FCE3343D3FD}"/>
              </a:ext>
            </a:extLst>
          </p:cNvPr>
          <p:cNvSpPr/>
          <p:nvPr/>
        </p:nvSpPr>
        <p:spPr>
          <a:xfrm>
            <a:off x="9785266" y="2820834"/>
            <a:ext cx="1512117" cy="60816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6273201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.4– 14.7b(4)</a:t>
            </a:r>
            <a:endParaRPr kumimoji="1" lang="zh-HK" altLang="en-US" dirty="0"/>
          </a:p>
        </p:txBody>
      </p:sp>
      <p:pic>
        <p:nvPicPr>
          <p:cNvPr id="4" name="圖片 3" descr="一張含有 桌 的圖片&#10;&#10;自動產生的描述">
            <a:extLst>
              <a:ext uri="{FF2B5EF4-FFF2-40B4-BE49-F238E27FC236}">
                <a16:creationId xmlns:a16="http://schemas.microsoft.com/office/drawing/2014/main" id="{1C4C8478-2223-F848-BBE3-4E668147357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37000" contrast="83000"/>
                    </a14:imgEffect>
                  </a14:imgLayer>
                </a14:imgProps>
              </a:ext>
              <a:ext uri="{28A0092B-C50C-407E-A947-70E740481C1C}">
                <a14:useLocalDpi xmlns:a14="http://schemas.microsoft.com/office/drawing/2010/main" val="0"/>
              </a:ext>
            </a:extLst>
          </a:blip>
          <a:stretch>
            <a:fillRect/>
          </a:stretch>
        </p:blipFill>
        <p:spPr>
          <a:xfrm>
            <a:off x="2877312" y="0"/>
            <a:ext cx="9314688" cy="5762875"/>
          </a:xfrm>
          <a:prstGeom prst="rect">
            <a:avLst/>
          </a:prstGeom>
        </p:spPr>
      </p:pic>
      <p:pic>
        <p:nvPicPr>
          <p:cNvPr id="8" name="圖片 7">
            <a:extLst>
              <a:ext uri="{FF2B5EF4-FFF2-40B4-BE49-F238E27FC236}">
                <a16:creationId xmlns:a16="http://schemas.microsoft.com/office/drawing/2014/main" id="{028F9542-A27D-FE4B-AEE2-22F45FCAAB7F}"/>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30000" contrast="78000"/>
                    </a14:imgEffect>
                  </a14:imgLayer>
                </a14:imgProps>
              </a:ext>
              <a:ext uri="{28A0092B-C50C-407E-A947-70E740481C1C}">
                <a14:useLocalDpi xmlns:a14="http://schemas.microsoft.com/office/drawing/2010/main" val="0"/>
              </a:ext>
            </a:extLst>
          </a:blip>
          <a:stretch>
            <a:fillRect/>
          </a:stretch>
        </p:blipFill>
        <p:spPr>
          <a:xfrm>
            <a:off x="805481" y="5937504"/>
            <a:ext cx="11168841" cy="728726"/>
          </a:xfrm>
          <a:prstGeom prst="rect">
            <a:avLst/>
          </a:prstGeom>
          <a:ln>
            <a:solidFill>
              <a:schemeClr val="tx1"/>
            </a:solidFill>
          </a:ln>
        </p:spPr>
      </p:pic>
    </p:spTree>
    <p:extLst>
      <p:ext uri="{BB962C8B-B14F-4D97-AF65-F5344CB8AC3E}">
        <p14:creationId xmlns:p14="http://schemas.microsoft.com/office/powerpoint/2010/main" val="29534903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.4– 14.7b(4)</a:t>
            </a:r>
            <a:endParaRPr kumimoji="1" lang="zh-HK" altLang="en-US" dirty="0"/>
          </a:p>
        </p:txBody>
      </p:sp>
      <p:pic>
        <p:nvPicPr>
          <p:cNvPr id="4" name="圖片 3" descr="一張含有 桌 的圖片&#10;&#10;自動產生的描述">
            <a:extLst>
              <a:ext uri="{FF2B5EF4-FFF2-40B4-BE49-F238E27FC236}">
                <a16:creationId xmlns:a16="http://schemas.microsoft.com/office/drawing/2014/main" id="{505B200A-4396-0044-84D2-049F9BCCA8D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6000" contrast="100000"/>
                    </a14:imgEffect>
                  </a14:imgLayer>
                </a14:imgProps>
              </a:ext>
              <a:ext uri="{28A0092B-C50C-407E-A947-70E740481C1C}">
                <a14:useLocalDpi xmlns:a14="http://schemas.microsoft.com/office/drawing/2010/main" val="0"/>
              </a:ext>
            </a:extLst>
          </a:blip>
          <a:stretch>
            <a:fillRect/>
          </a:stretch>
        </p:blipFill>
        <p:spPr>
          <a:xfrm>
            <a:off x="406400" y="1297686"/>
            <a:ext cx="11184938" cy="3030474"/>
          </a:xfrm>
          <a:prstGeom prst="rect">
            <a:avLst/>
          </a:prstGeom>
          <a:ln>
            <a:solidFill>
              <a:schemeClr val="tx1"/>
            </a:solidFill>
          </a:ln>
        </p:spPr>
      </p:pic>
    </p:spTree>
    <p:extLst>
      <p:ext uri="{BB962C8B-B14F-4D97-AF65-F5344CB8AC3E}">
        <p14:creationId xmlns:p14="http://schemas.microsoft.com/office/powerpoint/2010/main" val="22680865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7FA8F3CE-4BD9-0B4C-9C0B-D3490E7AB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0429"/>
            <a:ext cx="12192000" cy="4597141"/>
          </a:xfrm>
          <a:prstGeom prst="rect">
            <a:avLst/>
          </a:prstGeom>
        </p:spPr>
      </p:pic>
      <p:sp>
        <p:nvSpPr>
          <p:cNvPr id="6" name="橢圓 5">
            <a:extLst>
              <a:ext uri="{FF2B5EF4-FFF2-40B4-BE49-F238E27FC236}">
                <a16:creationId xmlns:a16="http://schemas.microsoft.com/office/drawing/2014/main" id="{1DB5B348-A592-425E-8DFC-0FCE3343D3FD}"/>
              </a:ext>
            </a:extLst>
          </p:cNvPr>
          <p:cNvSpPr/>
          <p:nvPr/>
        </p:nvSpPr>
        <p:spPr>
          <a:xfrm>
            <a:off x="9832767" y="4685260"/>
            <a:ext cx="1512117" cy="60816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9660323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.4– 19.5c(4)</a:t>
            </a:r>
            <a:endParaRPr kumimoji="1" lang="zh-HK" altLang="en-US" dirty="0"/>
          </a:p>
        </p:txBody>
      </p:sp>
      <p:pic>
        <p:nvPicPr>
          <p:cNvPr id="5" name="圖片 4" descr="一張含有 文字, 收據 的圖片&#10;&#10;自動產生的描述">
            <a:extLst>
              <a:ext uri="{FF2B5EF4-FFF2-40B4-BE49-F238E27FC236}">
                <a16:creationId xmlns:a16="http://schemas.microsoft.com/office/drawing/2014/main" id="{012404BC-B252-5443-8E16-C0F3D3582B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00" y="754126"/>
            <a:ext cx="9740900" cy="4015240"/>
          </a:xfrm>
          <a:prstGeom prst="rect">
            <a:avLst/>
          </a:prstGeom>
        </p:spPr>
      </p:pic>
      <p:pic>
        <p:nvPicPr>
          <p:cNvPr id="7" name="圖片 6">
            <a:extLst>
              <a:ext uri="{FF2B5EF4-FFF2-40B4-BE49-F238E27FC236}">
                <a16:creationId xmlns:a16="http://schemas.microsoft.com/office/drawing/2014/main" id="{452DE17D-2495-994E-A14D-0D464986B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300" y="4922955"/>
            <a:ext cx="11116564" cy="659085"/>
          </a:xfrm>
          <a:prstGeom prst="rect">
            <a:avLst/>
          </a:prstGeom>
          <a:ln>
            <a:solidFill>
              <a:schemeClr val="tx1"/>
            </a:solidFill>
          </a:ln>
        </p:spPr>
      </p:pic>
    </p:spTree>
    <p:extLst>
      <p:ext uri="{BB962C8B-B14F-4D97-AF65-F5344CB8AC3E}">
        <p14:creationId xmlns:p14="http://schemas.microsoft.com/office/powerpoint/2010/main" val="4373047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E183C-9D75-8F4A-91EC-D8D78729E481}"/>
              </a:ext>
            </a:extLst>
          </p:cNvPr>
          <p:cNvSpPr>
            <a:spLocks noGrp="1"/>
          </p:cNvSpPr>
          <p:nvPr>
            <p:ph type="title"/>
          </p:nvPr>
        </p:nvSpPr>
        <p:spPr>
          <a:xfrm>
            <a:off x="0" y="18256"/>
            <a:ext cx="10515600" cy="599262"/>
          </a:xfrm>
        </p:spPr>
        <p:txBody>
          <a:bodyPr>
            <a:normAutofit fontScale="90000"/>
          </a:bodyPr>
          <a:lstStyle/>
          <a:p>
            <a:r>
              <a:rPr kumimoji="1" lang="en-US" altLang="zh-TW" dirty="0"/>
              <a:t>6</a:t>
            </a:r>
            <a:r>
              <a:rPr kumimoji="1" lang="en-US" altLang="zh-HK" dirty="0"/>
              <a:t>.4– 19.5c(4)</a:t>
            </a:r>
            <a:endParaRPr kumimoji="1" lang="zh-HK" altLang="en-US" dirty="0"/>
          </a:p>
        </p:txBody>
      </p:sp>
      <p:pic>
        <p:nvPicPr>
          <p:cNvPr id="4" name="圖片 3" descr="一張含有 文字, 螢幕擷取畫面 的圖片&#10;&#10;自動產生的描述">
            <a:extLst>
              <a:ext uri="{FF2B5EF4-FFF2-40B4-BE49-F238E27FC236}">
                <a16:creationId xmlns:a16="http://schemas.microsoft.com/office/drawing/2014/main" id="{A87E8E15-CDEB-5044-B4FC-6F4929729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890" y="956744"/>
            <a:ext cx="11876219" cy="2472256"/>
          </a:xfrm>
          <a:prstGeom prst="rect">
            <a:avLst/>
          </a:prstGeom>
          <a:ln>
            <a:solidFill>
              <a:schemeClr val="tx1"/>
            </a:solidFill>
          </a:ln>
        </p:spPr>
      </p:pic>
    </p:spTree>
    <p:extLst>
      <p:ext uri="{BB962C8B-B14F-4D97-AF65-F5344CB8AC3E}">
        <p14:creationId xmlns:p14="http://schemas.microsoft.com/office/powerpoint/2010/main" val="122912712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4117</TotalTime>
  <Words>1063</Words>
  <Application>Microsoft Office PowerPoint</Application>
  <PresentationFormat>寬螢幕</PresentationFormat>
  <Paragraphs>95</Paragraphs>
  <Slides>53</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53</vt:i4>
      </vt:variant>
    </vt:vector>
  </HeadingPairs>
  <TitlesOfParts>
    <vt:vector size="58" baseType="lpstr">
      <vt:lpstr>quote-cjk-patch</vt:lpstr>
      <vt:lpstr>Arial</vt:lpstr>
      <vt:lpstr>Calibri</vt:lpstr>
      <vt:lpstr>Calibri Light</vt:lpstr>
      <vt:lpstr>Office 佈景主題</vt:lpstr>
      <vt:lpstr>PowerPoint 簡報</vt:lpstr>
      <vt:lpstr>6.2– 13.10a(12)</vt:lpstr>
      <vt:lpstr>6.2– 13.10a(12)</vt:lpstr>
      <vt:lpstr>6.2– 13.10a(12)</vt:lpstr>
      <vt:lpstr>6.2– 13.10a(12)</vt:lpstr>
      <vt:lpstr>PowerPoint 簡報</vt:lpstr>
      <vt:lpstr>6.2– 15.7d(4)</vt:lpstr>
      <vt:lpstr>6.2– 15.7d(4)</vt:lpstr>
      <vt:lpstr>PowerPoint 簡報</vt:lpstr>
      <vt:lpstr>6.2– 16.7b(3)</vt:lpstr>
      <vt:lpstr>6.2– 16.7b(4)</vt:lpstr>
      <vt:lpstr>PowerPoint 簡報</vt:lpstr>
      <vt:lpstr>6.2– 17.4(6)</vt:lpstr>
      <vt:lpstr>6.2– 17.4(6)</vt:lpstr>
      <vt:lpstr>PowerPoint 簡報</vt:lpstr>
      <vt:lpstr>6.2– 20.7a(10)</vt:lpstr>
      <vt:lpstr>6.2– 20.7a(10)</vt:lpstr>
      <vt:lpstr>6.2– 20.7a(10)</vt:lpstr>
      <vt:lpstr>6.2– 20.7a(10)</vt:lpstr>
      <vt:lpstr>6.2– 20.7a(10)</vt:lpstr>
      <vt:lpstr>PowerPoint 簡報</vt:lpstr>
      <vt:lpstr>6.3– 13.8c(4)</vt:lpstr>
      <vt:lpstr>6.3– 13.8c(4)</vt:lpstr>
      <vt:lpstr>PowerPoint 簡報</vt:lpstr>
      <vt:lpstr>6.3– 15.7b(6)</vt:lpstr>
      <vt:lpstr>6.3– 15.7b(6)</vt:lpstr>
      <vt:lpstr>6.3– 15.7b(6)</vt:lpstr>
      <vt:lpstr>PowerPoint 簡報</vt:lpstr>
      <vt:lpstr>6.3– 17.6a(6)</vt:lpstr>
      <vt:lpstr>6.3– 17.6a(6)</vt:lpstr>
      <vt:lpstr>6.3– 17.6a(6)</vt:lpstr>
      <vt:lpstr>6.3– 17.6a(6)</vt:lpstr>
      <vt:lpstr>PowerPoint 簡報</vt:lpstr>
      <vt:lpstr>6.3– 20.8b(10)</vt:lpstr>
      <vt:lpstr>6.3– 20.8b(10)</vt:lpstr>
      <vt:lpstr>PowerPoint 簡報</vt:lpstr>
      <vt:lpstr>PowerPoint 簡報</vt:lpstr>
      <vt:lpstr>PowerPoint 簡報</vt:lpstr>
      <vt:lpstr>PowerPoint 簡報</vt:lpstr>
      <vt:lpstr>PowerPoint 簡報</vt:lpstr>
      <vt:lpstr>6.3– 24.8b(10)</vt:lpstr>
      <vt:lpstr>6.3– 24.8b(10)</vt:lpstr>
      <vt:lpstr>6.3– 24.8b(10)</vt:lpstr>
      <vt:lpstr>常見錯誤</vt:lpstr>
      <vt:lpstr>PowerPoint 簡報</vt:lpstr>
      <vt:lpstr>6.3– 25.3c(4)</vt:lpstr>
      <vt:lpstr>6.3– 25.3c(4)</vt:lpstr>
      <vt:lpstr>PowerPoint 簡報</vt:lpstr>
      <vt:lpstr>6.4– 14.7b(4)</vt:lpstr>
      <vt:lpstr>6.4– 14.7b(4)</vt:lpstr>
      <vt:lpstr>PowerPoint 簡報</vt:lpstr>
      <vt:lpstr>6.4– 19.5c(4)</vt:lpstr>
      <vt:lpstr>6.4– 19.5c(4)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Android test</dc:creator>
  <cp:lastModifiedBy>yn chan</cp:lastModifiedBy>
  <cp:revision>250</cp:revision>
  <cp:lastPrinted>2020-10-26T03:21:09Z</cp:lastPrinted>
  <dcterms:created xsi:type="dcterms:W3CDTF">2020-07-18T16:05:14Z</dcterms:created>
  <dcterms:modified xsi:type="dcterms:W3CDTF">2026-05-14T04:47:16Z</dcterms:modified>
</cp:coreProperties>
</file>