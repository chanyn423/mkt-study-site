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7"/>
  </p:notesMasterIdLst>
  <p:sldIdLst>
    <p:sldId id="394" r:id="rId2"/>
    <p:sldId id="261" r:id="rId3"/>
    <p:sldId id="300" r:id="rId4"/>
    <p:sldId id="276" r:id="rId5"/>
    <p:sldId id="304" r:id="rId6"/>
    <p:sldId id="305" r:id="rId7"/>
    <p:sldId id="306" r:id="rId8"/>
    <p:sldId id="337" r:id="rId9"/>
    <p:sldId id="289" r:id="rId10"/>
    <p:sldId id="308" r:id="rId11"/>
    <p:sldId id="336" r:id="rId12"/>
    <p:sldId id="309" r:id="rId13"/>
    <p:sldId id="328" r:id="rId14"/>
    <p:sldId id="338" r:id="rId15"/>
    <p:sldId id="340" r:id="rId16"/>
    <p:sldId id="341" r:id="rId17"/>
    <p:sldId id="344" r:id="rId18"/>
    <p:sldId id="339" r:id="rId19"/>
    <p:sldId id="342" r:id="rId20"/>
    <p:sldId id="343" r:id="rId21"/>
    <p:sldId id="345" r:id="rId22"/>
    <p:sldId id="346" r:id="rId23"/>
    <p:sldId id="347" r:id="rId24"/>
    <p:sldId id="395" r:id="rId25"/>
    <p:sldId id="356" r:id="rId26"/>
    <p:sldId id="291" r:id="rId27"/>
    <p:sldId id="324" r:id="rId28"/>
    <p:sldId id="325" r:id="rId29"/>
    <p:sldId id="326" r:id="rId30"/>
    <p:sldId id="349" r:id="rId31"/>
    <p:sldId id="350" r:id="rId32"/>
    <p:sldId id="352" r:id="rId33"/>
    <p:sldId id="354" r:id="rId34"/>
    <p:sldId id="353" r:id="rId35"/>
    <p:sldId id="355" r:id="rId36"/>
    <p:sldId id="290" r:id="rId37"/>
    <p:sldId id="329" r:id="rId38"/>
    <p:sldId id="330" r:id="rId39"/>
    <p:sldId id="331" r:id="rId40"/>
    <p:sldId id="358" r:id="rId41"/>
    <p:sldId id="292" r:id="rId42"/>
    <p:sldId id="310" r:id="rId43"/>
    <p:sldId id="311" r:id="rId44"/>
    <p:sldId id="359" r:id="rId45"/>
    <p:sldId id="361" r:id="rId46"/>
    <p:sldId id="365" r:id="rId47"/>
    <p:sldId id="360" r:id="rId48"/>
    <p:sldId id="363" r:id="rId49"/>
    <p:sldId id="366" r:id="rId50"/>
    <p:sldId id="364" r:id="rId51"/>
    <p:sldId id="396" r:id="rId52"/>
    <p:sldId id="399" r:id="rId53"/>
    <p:sldId id="400" r:id="rId54"/>
    <p:sldId id="401" r:id="rId55"/>
    <p:sldId id="402" r:id="rId56"/>
    <p:sldId id="403" r:id="rId57"/>
    <p:sldId id="284" r:id="rId58"/>
    <p:sldId id="295" r:id="rId59"/>
    <p:sldId id="301" r:id="rId60"/>
    <p:sldId id="307" r:id="rId61"/>
    <p:sldId id="302" r:id="rId62"/>
    <p:sldId id="367" r:id="rId63"/>
    <p:sldId id="370" r:id="rId64"/>
    <p:sldId id="369" r:id="rId65"/>
    <p:sldId id="368" r:id="rId66"/>
    <p:sldId id="376" r:id="rId67"/>
    <p:sldId id="372" r:id="rId68"/>
    <p:sldId id="373" r:id="rId69"/>
    <p:sldId id="374" r:id="rId70"/>
    <p:sldId id="375" r:id="rId71"/>
    <p:sldId id="377" r:id="rId72"/>
    <p:sldId id="378" r:id="rId73"/>
    <p:sldId id="380" r:id="rId74"/>
    <p:sldId id="397" r:id="rId75"/>
    <p:sldId id="381" r:id="rId76"/>
    <p:sldId id="297" r:id="rId77"/>
    <p:sldId id="320" r:id="rId78"/>
    <p:sldId id="321" r:id="rId79"/>
    <p:sldId id="382" r:id="rId80"/>
    <p:sldId id="298" r:id="rId81"/>
    <p:sldId id="322" r:id="rId82"/>
    <p:sldId id="323" r:id="rId83"/>
    <p:sldId id="383" r:id="rId84"/>
    <p:sldId id="314" r:id="rId85"/>
    <p:sldId id="299" r:id="rId86"/>
    <p:sldId id="315" r:id="rId87"/>
    <p:sldId id="384" r:id="rId88"/>
    <p:sldId id="385" r:id="rId89"/>
    <p:sldId id="387" r:id="rId90"/>
    <p:sldId id="404" r:id="rId91"/>
    <p:sldId id="393" r:id="rId92"/>
    <p:sldId id="405" r:id="rId93"/>
    <p:sldId id="390" r:id="rId94"/>
    <p:sldId id="406" r:id="rId95"/>
    <p:sldId id="407" r:id="rId96"/>
  </p:sldIdLst>
  <p:sldSz cx="12192000" cy="6858000"/>
  <p:notesSz cx="6797675" cy="99266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788" autoAdjust="0"/>
    <p:restoredTop sz="94660"/>
  </p:normalViewPr>
  <p:slideViewPr>
    <p:cSldViewPr snapToGrid="0">
      <p:cViewPr>
        <p:scale>
          <a:sx n="66" d="100"/>
          <a:sy n="66" d="100"/>
        </p:scale>
        <p:origin x="619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688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0D328-4D0B-43BC-9234-E931651C542C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01FA6-F0C7-47AB-81B9-0CAC3663AC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2283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DFEE8B-2845-4A0F-A438-12E0F917BC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50355E9-DEDB-4D6B-9385-9110471555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B6E68E-4530-4A09-A6D9-773669A2C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088B70B-81EF-447F-9644-C02B435D4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E8AAD1-5CA0-4B94-A9EC-3E99230F6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0472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021F4A-761A-4317-BD5E-6C5DFE8E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DC2165-09D1-4325-977F-1607D8F89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1C1136-BC20-4EEC-A452-1AF528463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DD3D21-2141-42FA-9877-85C523020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9B4CE1A-D873-4CB3-8E31-D4E6BEA44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4598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7D5991-7186-4D1A-9385-CD24CD952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F5D806C-FEE6-4E77-9016-A8F728336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36044B-95BC-4323-BCB0-A59671928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C56DC6B-233A-483E-AEED-0BABEA4B7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84DAC86-045D-415D-AA5E-A9D36798F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3080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F5D76F-3123-4AD1-A5DE-5C7D6E1F5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ABA624-05A6-4C9E-B206-68C96FE4A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B97DFE4-0528-4A34-849A-0F1CD2AA12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D1C09F9-2867-4425-B1B5-AB06E4268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CEBC473-5BF3-4398-8BDB-7083E7AA2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2B67B46-68C9-475D-8259-09204E59F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4553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917307-C9DA-4F8F-B21A-09AA03982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6A57069-E5A4-449F-9826-6B10AFE07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33EF1F1-3380-48C7-A76B-D6130D9CA7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305BA36-7F81-4079-901F-0E38EE065F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EEA9314-E918-4489-80D2-4272257AF1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B320ED3-6FD8-442F-801F-611CE2C1A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ED81CF7-D112-46BD-A0D8-D9A26724F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ABA1A94-07C4-4F6A-91F6-587F6FE47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7859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252EE7-EF19-4490-BE86-15D74BA94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21C755A-04D2-4C07-8484-060345B7B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6B29A82-9B1D-4A9B-8906-D520DDBA3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2FA88B0-92B6-4F61-A4F3-14F4BBA7C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4294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8A4F181-7AD2-45F2-8DA3-1B9866193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DCE28BB-25C5-4C8A-BA14-E78389B53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FD4F3B-E7AE-47DD-A7FD-6C9643CBC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4252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31E451-6490-4CFB-83C1-7C08CFC47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B10207-41BC-4F78-8FCD-3578FEC44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EED0B25-10AF-4E15-B3AD-82F922786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1322311-1A96-444F-B6D3-8124B143E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B005760-BFEA-48DB-8DED-6E18BB9A5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F28DF56-26B7-4070-8566-93A902C22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4699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B0CF20-24CE-4F1C-B51A-5CE4EEA8A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AC24664-38F2-42B0-A095-88CBAA1555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9C9496E-5C51-4336-B6AF-A297823B2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2D428BB-1913-4FFF-A7DB-EB5381299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408F71C-BD0A-4EFA-9A2C-3EE3A5434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53E3592-1FF9-409F-9E3B-85F43D3E4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6917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543154-0FB0-4F40-AF14-D0D40DCCA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9CA741B-9ABD-40FB-8982-C02367D87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AB13C66-25BC-4E10-8E02-7CEE23C74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4C6D207-3571-4883-B3CE-17B267ECA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F52B751-5F7A-4A49-A9EA-BBC83818C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8352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F4581D3-C538-46C6-8544-528144C539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16C997F-373A-48B8-AC5E-15EA28557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69BA5B8-9B8D-4611-AADA-E564A2B8C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E8508-FC05-4DC5-A45A-F6C201974417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F6857A-CFE3-4ABA-9899-7330F103C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49AC71-1224-4301-BA88-97C5DA731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8450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4A7446E-4B64-4D51-A793-9063602F9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0F3F8B5-E868-4B56-B808-49C510988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8E2FE9-3D04-4E5F-975F-29949190A4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E8508-FC05-4DC5-A45A-F6C201974417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6F9374-B193-4FB3-BCA4-7453917F30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618BA5-CD77-4ADE-BFC8-76473EE42A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5B709-D27D-480D-9491-2806B8643D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220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tmp"/><Relationship Id="rId2" Type="http://schemas.openxmlformats.org/officeDocument/2006/relationships/image" Target="../media/image32.tmp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tmp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tmp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tmp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tmp"/><Relationship Id="rId2" Type="http://schemas.openxmlformats.org/officeDocument/2006/relationships/image" Target="../media/image43.tmp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tmp"/><Relationship Id="rId2" Type="http://schemas.openxmlformats.org/officeDocument/2006/relationships/image" Target="../media/image48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tmp"/><Relationship Id="rId4" Type="http://schemas.openxmlformats.org/officeDocument/2006/relationships/image" Target="../media/image50.tmp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54.png"/><Relationship Id="rId4" Type="http://schemas.microsoft.com/office/2007/relationships/hdphoto" Target="../media/hdphoto2.wdp"/></Relationships>
</file>

<file path=ppt/slides/_rels/slide4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tmp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tmp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tmp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tmp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tmp"/></Relationships>
</file>

<file path=ppt/slides/_rels/slide77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tmp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2.wdp"/><Relationship Id="rId4" Type="http://schemas.openxmlformats.org/officeDocument/2006/relationships/image" Target="../media/image90.png"/></Relationships>
</file>

<file path=ppt/slides/_rels/slide81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tmp"/><Relationship Id="rId2" Type="http://schemas.openxmlformats.org/officeDocument/2006/relationships/image" Target="../media/image92.tmp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tmp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849F5B-1039-4A73-AB18-423180E446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HK" dirty="0"/>
              <a:t>Product</a:t>
            </a:r>
            <a:endParaRPr lang="zh-HK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9BC7685-5195-4BCF-87E9-46F20EDE8F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707042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6E88687-D3A4-D163-B0AD-446E54E88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23" y="690180"/>
            <a:ext cx="11126753" cy="5477639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2945095" y="3286005"/>
            <a:ext cx="1575790" cy="4978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7393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</a:t>
            </a:r>
            <a:r>
              <a:rPr kumimoji="1" lang="en-US" altLang="zh-HK" dirty="0"/>
              <a:t>.3</a:t>
            </a:r>
            <a:r>
              <a:rPr kumimoji="1" lang="zh-TW" altLang="en-US" dirty="0"/>
              <a:t>產品策略</a:t>
            </a:r>
            <a:r>
              <a:rPr kumimoji="1" lang="en-US" altLang="zh-HK" dirty="0"/>
              <a:t> – 1</a:t>
            </a:r>
            <a:r>
              <a:rPr kumimoji="1" lang="en-US" altLang="zh-TW" dirty="0"/>
              <a:t>8</a:t>
            </a:r>
            <a:r>
              <a:rPr kumimoji="1" lang="en-US" altLang="zh-HK" dirty="0"/>
              <a:t>.</a:t>
            </a:r>
            <a:r>
              <a:rPr kumimoji="1" lang="en-US" altLang="zh-TW" dirty="0"/>
              <a:t>2</a:t>
            </a:r>
            <a:r>
              <a:rPr kumimoji="1" lang="en-US" altLang="zh-HK" dirty="0"/>
              <a:t>(</a:t>
            </a:r>
            <a:r>
              <a:rPr kumimoji="1" lang="en-US" altLang="zh-TW" dirty="0"/>
              <a:t>6</a:t>
            </a:r>
            <a:r>
              <a:rPr kumimoji="1" lang="en-US" altLang="zh-HK" dirty="0"/>
              <a:t>)</a:t>
            </a:r>
            <a:endParaRPr kumimoji="1"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2726ACE-B006-7846-966D-EF0A562EA4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" t="2149"/>
          <a:stretch/>
        </p:blipFill>
        <p:spPr>
          <a:xfrm>
            <a:off x="143577" y="1304144"/>
            <a:ext cx="12048423" cy="80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971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</a:t>
            </a:r>
            <a:r>
              <a:rPr kumimoji="1" lang="en-US" altLang="zh-HK" dirty="0"/>
              <a:t>.3</a:t>
            </a:r>
            <a:r>
              <a:rPr kumimoji="1" lang="zh-TW" altLang="en-US" dirty="0"/>
              <a:t>產品策略</a:t>
            </a:r>
            <a:r>
              <a:rPr kumimoji="1" lang="en-US" altLang="zh-HK" dirty="0"/>
              <a:t> – 1</a:t>
            </a:r>
            <a:r>
              <a:rPr kumimoji="1" lang="en-US" altLang="zh-TW" dirty="0"/>
              <a:t>8</a:t>
            </a:r>
            <a:r>
              <a:rPr kumimoji="1" lang="en-US" altLang="zh-HK" dirty="0"/>
              <a:t>.</a:t>
            </a:r>
            <a:r>
              <a:rPr kumimoji="1" lang="en-US" altLang="zh-TW" dirty="0"/>
              <a:t>2</a:t>
            </a:r>
            <a:r>
              <a:rPr kumimoji="1" lang="en-US" altLang="zh-HK" dirty="0"/>
              <a:t>(</a:t>
            </a:r>
            <a:r>
              <a:rPr kumimoji="1" lang="en-US" altLang="zh-TW" dirty="0"/>
              <a:t>6</a:t>
            </a:r>
            <a:r>
              <a:rPr kumimoji="1" lang="en-US" altLang="zh-HK" dirty="0"/>
              <a:t>)</a:t>
            </a:r>
            <a:endParaRPr kumimoji="1" lang="zh-HK" altLang="en-US" dirty="0"/>
          </a:p>
        </p:txBody>
      </p:sp>
      <p:pic>
        <p:nvPicPr>
          <p:cNvPr id="4" name="圖片 3" descr="一張含有 桌 的圖片&#10;&#10;自動產生的描述">
            <a:extLst>
              <a:ext uri="{FF2B5EF4-FFF2-40B4-BE49-F238E27FC236}">
                <a16:creationId xmlns:a16="http://schemas.microsoft.com/office/drawing/2014/main" id="{58E354BD-2AC4-2F4D-A54A-580978F86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345" y="1270412"/>
            <a:ext cx="11085310" cy="27434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5815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</a:t>
            </a:r>
            <a:r>
              <a:rPr kumimoji="1" lang="en-US" altLang="zh-HK" dirty="0"/>
              <a:t>.3</a:t>
            </a:r>
            <a:r>
              <a:rPr kumimoji="1" lang="zh-TW" altLang="en-US" dirty="0"/>
              <a:t>產品策略</a:t>
            </a:r>
            <a:r>
              <a:rPr kumimoji="1" lang="en-US" altLang="zh-HK" dirty="0"/>
              <a:t> – 1</a:t>
            </a:r>
            <a:r>
              <a:rPr kumimoji="1" lang="en-US" altLang="zh-TW" dirty="0"/>
              <a:t>8</a:t>
            </a:r>
            <a:r>
              <a:rPr kumimoji="1" lang="en-US" altLang="zh-HK" dirty="0"/>
              <a:t>.</a:t>
            </a:r>
            <a:r>
              <a:rPr kumimoji="1" lang="en-US" altLang="zh-TW" dirty="0"/>
              <a:t>2</a:t>
            </a:r>
            <a:r>
              <a:rPr kumimoji="1" lang="en-US" altLang="zh-HK" dirty="0"/>
              <a:t>(</a:t>
            </a:r>
            <a:r>
              <a:rPr kumimoji="1" lang="en-US" altLang="zh-TW" dirty="0"/>
              <a:t>6</a:t>
            </a:r>
            <a:r>
              <a:rPr kumimoji="1" lang="en-US" altLang="zh-HK" dirty="0"/>
              <a:t>)</a:t>
            </a:r>
            <a:endParaRPr kumimoji="1" lang="zh-HK" altLang="en-US" dirty="0"/>
          </a:p>
        </p:txBody>
      </p:sp>
      <p:pic>
        <p:nvPicPr>
          <p:cNvPr id="4" name="圖片 3" descr="一張含有 文字 的圖片&#10;&#10;自動產生的描述">
            <a:extLst>
              <a:ext uri="{FF2B5EF4-FFF2-40B4-BE49-F238E27FC236}">
                <a16:creationId xmlns:a16="http://schemas.microsoft.com/office/drawing/2014/main" id="{3113827D-E083-974E-8525-DA59FD5A8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96" y="1188191"/>
            <a:ext cx="11371929" cy="4844473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CF4E41D7-F2DF-9B4C-8034-51C91FA3D42F}"/>
              </a:ext>
            </a:extLst>
          </p:cNvPr>
          <p:cNvSpPr txBox="1"/>
          <p:nvPr/>
        </p:nvSpPr>
        <p:spPr>
          <a:xfrm>
            <a:off x="938150" y="603266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HK" altLang="en-US" dirty="0">
                <a:highlight>
                  <a:srgbClr val="FFFF00"/>
                </a:highlight>
              </a:rPr>
              <a:t>正確說明及解釋</a:t>
            </a:r>
          </a:p>
        </p:txBody>
      </p:sp>
    </p:spTree>
    <p:extLst>
      <p:ext uri="{BB962C8B-B14F-4D97-AF65-F5344CB8AC3E}">
        <p14:creationId xmlns:p14="http://schemas.microsoft.com/office/powerpoint/2010/main" val="763872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</a:t>
            </a:r>
            <a:r>
              <a:rPr kumimoji="1" lang="en-US" altLang="zh-HK" dirty="0"/>
              <a:t>.3</a:t>
            </a:r>
            <a:r>
              <a:rPr kumimoji="1" lang="zh-TW" altLang="en-US" dirty="0"/>
              <a:t>產品策略</a:t>
            </a:r>
            <a:r>
              <a:rPr kumimoji="1" lang="en-US" altLang="zh-HK" dirty="0"/>
              <a:t> – 1</a:t>
            </a:r>
            <a:r>
              <a:rPr kumimoji="1" lang="en-US" altLang="zh-TW" dirty="0"/>
              <a:t>8</a:t>
            </a:r>
            <a:r>
              <a:rPr kumimoji="1" lang="en-US" altLang="zh-HK" dirty="0"/>
              <a:t>.</a:t>
            </a:r>
            <a:r>
              <a:rPr kumimoji="1" lang="en-US" altLang="zh-TW" dirty="0"/>
              <a:t>2</a:t>
            </a:r>
            <a:r>
              <a:rPr kumimoji="1" lang="en-US" altLang="zh-HK" dirty="0"/>
              <a:t>(</a:t>
            </a:r>
            <a:r>
              <a:rPr kumimoji="1" lang="en-US" altLang="zh-TW" dirty="0"/>
              <a:t>6</a:t>
            </a:r>
            <a:r>
              <a:rPr kumimoji="1" lang="en-US" altLang="zh-HK" dirty="0"/>
              <a:t>) – </a:t>
            </a:r>
            <a:r>
              <a:rPr kumimoji="1" lang="zh-HK" altLang="en-US" dirty="0"/>
              <a:t>錯誤示範</a:t>
            </a: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69FB04FA-4F40-6841-98DA-0AA99DE4136A}"/>
              </a:ext>
            </a:extLst>
          </p:cNvPr>
          <p:cNvGrpSpPr/>
          <p:nvPr/>
        </p:nvGrpSpPr>
        <p:grpSpPr>
          <a:xfrm>
            <a:off x="595949" y="961902"/>
            <a:ext cx="10744986" cy="5746462"/>
            <a:chOff x="465320" y="2797684"/>
            <a:chExt cx="8881776" cy="4029433"/>
          </a:xfrm>
        </p:grpSpPr>
        <p:pic>
          <p:nvPicPr>
            <p:cNvPr id="6" name="圖片 5" descr="一張含有 文字 的圖片&#10;&#10;自動產生的描述">
              <a:extLst>
                <a:ext uri="{FF2B5EF4-FFF2-40B4-BE49-F238E27FC236}">
                  <a16:creationId xmlns:a16="http://schemas.microsoft.com/office/drawing/2014/main" id="{13CB8AA7-842E-E145-B34B-BCD63ECD20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5952"/>
            <a:stretch/>
          </p:blipFill>
          <p:spPr>
            <a:xfrm>
              <a:off x="465320" y="5448022"/>
              <a:ext cx="6906542" cy="1379095"/>
            </a:xfrm>
            <a:prstGeom prst="rect">
              <a:avLst/>
            </a:prstGeom>
          </p:spPr>
        </p:pic>
        <p:pic>
          <p:nvPicPr>
            <p:cNvPr id="7" name="圖片 6" descr="一張含有 文字 的圖片&#10;&#10;自動產生的描述">
              <a:extLst>
                <a:ext uri="{FF2B5EF4-FFF2-40B4-BE49-F238E27FC236}">
                  <a16:creationId xmlns:a16="http://schemas.microsoft.com/office/drawing/2014/main" id="{2F0934A2-B2CA-6945-AD77-6C16D30357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8466"/>
            <a:stretch/>
          </p:blipFill>
          <p:spPr>
            <a:xfrm>
              <a:off x="577850" y="2797684"/>
              <a:ext cx="8769246" cy="26503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11041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</a:t>
            </a:r>
            <a:r>
              <a:rPr kumimoji="1" lang="en-US" altLang="zh-HK" dirty="0"/>
              <a:t>.3</a:t>
            </a:r>
            <a:r>
              <a:rPr kumimoji="1" lang="zh-TW" altLang="en-US" dirty="0"/>
              <a:t>產品策略</a:t>
            </a:r>
            <a:r>
              <a:rPr kumimoji="1" lang="en-US" altLang="zh-HK" dirty="0"/>
              <a:t> – 1</a:t>
            </a:r>
            <a:r>
              <a:rPr kumimoji="1" lang="en-US" altLang="zh-TW" dirty="0"/>
              <a:t>8</a:t>
            </a:r>
            <a:r>
              <a:rPr kumimoji="1" lang="en-US" altLang="zh-HK" dirty="0"/>
              <a:t>.</a:t>
            </a:r>
            <a:r>
              <a:rPr kumimoji="1" lang="en-US" altLang="zh-TW" dirty="0"/>
              <a:t>2</a:t>
            </a:r>
            <a:r>
              <a:rPr kumimoji="1" lang="en-US" altLang="zh-HK" dirty="0"/>
              <a:t>(</a:t>
            </a:r>
            <a:r>
              <a:rPr kumimoji="1" lang="en-US" altLang="zh-TW" dirty="0"/>
              <a:t>6</a:t>
            </a:r>
            <a:r>
              <a:rPr kumimoji="1" lang="en-US" altLang="zh-HK" dirty="0"/>
              <a:t>) – </a:t>
            </a:r>
            <a:r>
              <a:rPr kumimoji="1" lang="zh-HK" altLang="en-US" dirty="0"/>
              <a:t>錯誤示範</a:t>
            </a:r>
          </a:p>
        </p:txBody>
      </p:sp>
      <p:pic>
        <p:nvPicPr>
          <p:cNvPr id="4" name="圖片 3" descr="一張含有 文字 的圖片&#10;&#10;自動產生的描述">
            <a:extLst>
              <a:ext uri="{FF2B5EF4-FFF2-40B4-BE49-F238E27FC236}">
                <a16:creationId xmlns:a16="http://schemas.microsoft.com/office/drawing/2014/main" id="{9BAD3C74-E17B-054D-B358-63E40D1803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717" y="1504148"/>
            <a:ext cx="9136166" cy="2875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59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1D803-81A4-7D20-BBE3-9A64BACA3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CB22C57-177E-01EC-A5C3-840C0CE56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23" y="690180"/>
            <a:ext cx="11126753" cy="5477639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B23A80A7-FBEA-E793-A134-6D5D49D6893F}"/>
              </a:ext>
            </a:extLst>
          </p:cNvPr>
          <p:cNvSpPr/>
          <p:nvPr/>
        </p:nvSpPr>
        <p:spPr>
          <a:xfrm>
            <a:off x="2953804" y="3677891"/>
            <a:ext cx="1575790" cy="4978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2068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</a:t>
            </a:r>
            <a:r>
              <a:rPr kumimoji="1" lang="en-US" altLang="zh-HK" dirty="0"/>
              <a:t>.3</a:t>
            </a:r>
            <a:r>
              <a:rPr kumimoji="1" lang="zh-TW" altLang="en-US" dirty="0"/>
              <a:t>產品策略</a:t>
            </a:r>
            <a:r>
              <a:rPr kumimoji="1" lang="en-US" altLang="zh-HK" dirty="0"/>
              <a:t> – 1</a:t>
            </a:r>
            <a:r>
              <a:rPr kumimoji="1" lang="en-US" altLang="zh-TW" dirty="0"/>
              <a:t>9</a:t>
            </a:r>
            <a:r>
              <a:rPr kumimoji="1" lang="en-US" altLang="zh-HK" dirty="0"/>
              <a:t>.</a:t>
            </a:r>
            <a:r>
              <a:rPr kumimoji="1" lang="en-US" altLang="zh-TW" dirty="0"/>
              <a:t>6bii</a:t>
            </a:r>
            <a:r>
              <a:rPr kumimoji="1" lang="en-US" altLang="zh-HK" dirty="0"/>
              <a:t>(4)</a:t>
            </a:r>
            <a:endParaRPr kumimoji="1" lang="zh-HK" altLang="en-US" dirty="0"/>
          </a:p>
        </p:txBody>
      </p:sp>
      <p:pic>
        <p:nvPicPr>
          <p:cNvPr id="4" name="圖片 3" descr="一張含有 文字 的圖片&#10;&#10;自動產生的描述">
            <a:extLst>
              <a:ext uri="{FF2B5EF4-FFF2-40B4-BE49-F238E27FC236}">
                <a16:creationId xmlns:a16="http://schemas.microsoft.com/office/drawing/2014/main" id="{2A4677A7-E4C2-3A43-8121-89214F03A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" y="814264"/>
            <a:ext cx="6860652" cy="519559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4A9FFA2-54DB-0F40-9E40-C026DA04A1C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3" t="3296"/>
          <a:stretch/>
        </p:blipFill>
        <p:spPr>
          <a:xfrm>
            <a:off x="522514" y="5985541"/>
            <a:ext cx="8596614" cy="7669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25728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</a:t>
            </a:r>
            <a:r>
              <a:rPr kumimoji="1" lang="en-US" altLang="zh-HK" dirty="0"/>
              <a:t>.3</a:t>
            </a:r>
            <a:r>
              <a:rPr kumimoji="1" lang="zh-TW" altLang="en-US" dirty="0"/>
              <a:t>產品策略</a:t>
            </a:r>
            <a:r>
              <a:rPr kumimoji="1" lang="en-US" altLang="zh-HK" dirty="0"/>
              <a:t> – 1</a:t>
            </a:r>
            <a:r>
              <a:rPr kumimoji="1" lang="en-US" altLang="zh-TW" dirty="0"/>
              <a:t>9</a:t>
            </a:r>
            <a:r>
              <a:rPr kumimoji="1" lang="en-US" altLang="zh-HK" dirty="0"/>
              <a:t>.</a:t>
            </a:r>
            <a:r>
              <a:rPr kumimoji="1" lang="en-US" altLang="zh-TW" dirty="0"/>
              <a:t>6bii</a:t>
            </a:r>
            <a:r>
              <a:rPr kumimoji="1" lang="en-US" altLang="zh-HK" dirty="0"/>
              <a:t>(4)</a:t>
            </a:r>
            <a:endParaRPr kumimoji="1"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2081343-B429-4181-B5EE-3DF4444C60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05" y="1071462"/>
            <a:ext cx="10871450" cy="20019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47457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B622E-229A-62FE-546D-C55DA3443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346746-15E9-CC89-6F4C-C6CF3C6F6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5.4</a:t>
            </a:r>
            <a:r>
              <a:rPr kumimoji="1" lang="zh-TW" altLang="en-US" dirty="0"/>
              <a:t>定價策略</a:t>
            </a:r>
            <a:r>
              <a:rPr kumimoji="1" lang="en-US" altLang="zh-HK" dirty="0"/>
              <a:t> – </a:t>
            </a:r>
            <a:r>
              <a:rPr kumimoji="1" lang="en-US" altLang="zh-TW" dirty="0"/>
              <a:t>19</a:t>
            </a:r>
            <a:r>
              <a:rPr kumimoji="1" lang="en-US" altLang="zh-HK" dirty="0"/>
              <a:t>.</a:t>
            </a:r>
            <a:r>
              <a:rPr kumimoji="1" lang="en-US" altLang="zh-TW" dirty="0"/>
              <a:t>6bii</a:t>
            </a:r>
            <a:r>
              <a:rPr kumimoji="1" lang="en-US" altLang="zh-HK" dirty="0"/>
              <a:t>(4)</a:t>
            </a:r>
            <a:endParaRPr kumimoji="1" lang="zh-HK" altLang="en-US" dirty="0"/>
          </a:p>
        </p:txBody>
      </p:sp>
      <p:pic>
        <p:nvPicPr>
          <p:cNvPr id="4" name="圖片 3" descr="一張含有 桌 的圖片&#10;&#10;自動產生的描述">
            <a:extLst>
              <a:ext uri="{FF2B5EF4-FFF2-40B4-BE49-F238E27FC236}">
                <a16:creationId xmlns:a16="http://schemas.microsoft.com/office/drawing/2014/main" id="{CDF0D259-DCD1-3895-8186-E9BE301CA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74" y="759829"/>
            <a:ext cx="11149308" cy="58877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6179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</a:t>
            </a:r>
            <a:r>
              <a:rPr kumimoji="1" lang="en-US" altLang="zh-HK" dirty="0"/>
              <a:t>.3</a:t>
            </a:r>
            <a:r>
              <a:rPr kumimoji="1" lang="zh-TW" altLang="en-US" dirty="0"/>
              <a:t>產品策略</a:t>
            </a:r>
            <a:r>
              <a:rPr kumimoji="1" lang="en-US" altLang="zh-HK" dirty="0"/>
              <a:t> – 1</a:t>
            </a:r>
            <a:r>
              <a:rPr kumimoji="1" lang="en-US" altLang="zh-TW" dirty="0"/>
              <a:t>9</a:t>
            </a:r>
            <a:r>
              <a:rPr kumimoji="1" lang="en-US" altLang="zh-HK" dirty="0"/>
              <a:t>.</a:t>
            </a:r>
            <a:r>
              <a:rPr kumimoji="1" lang="en-US" altLang="zh-TW" dirty="0"/>
              <a:t>6bii</a:t>
            </a:r>
            <a:r>
              <a:rPr kumimoji="1" lang="en-US" altLang="zh-HK" dirty="0"/>
              <a:t>(4)</a:t>
            </a:r>
            <a:endParaRPr kumimoji="1" lang="zh-HK" altLang="en-US" dirty="0"/>
          </a:p>
        </p:txBody>
      </p:sp>
      <p:pic>
        <p:nvPicPr>
          <p:cNvPr id="4" name="圖片 3" descr="一張含有 文字, 收據 的圖片&#10;&#10;自動產生的描述">
            <a:extLst>
              <a:ext uri="{FF2B5EF4-FFF2-40B4-BE49-F238E27FC236}">
                <a16:creationId xmlns:a16="http://schemas.microsoft.com/office/drawing/2014/main" id="{4A89B242-5CBD-4851-A425-7648C478E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30" y="712433"/>
            <a:ext cx="8087370" cy="4443885"/>
          </a:xfrm>
          <a:prstGeom prst="rect">
            <a:avLst/>
          </a:prstGeom>
        </p:spPr>
      </p:pic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id="{FDD80998-9003-42CB-BB6E-495A54D869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31" y="5263025"/>
            <a:ext cx="8087370" cy="124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188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</a:t>
            </a:r>
            <a:r>
              <a:rPr kumimoji="1" lang="en-US" altLang="zh-HK" dirty="0"/>
              <a:t>.3</a:t>
            </a:r>
            <a:r>
              <a:rPr kumimoji="1" lang="zh-TW" altLang="en-US" dirty="0"/>
              <a:t>產品策略</a:t>
            </a:r>
            <a:r>
              <a:rPr kumimoji="1" lang="en-US" altLang="zh-HK" dirty="0"/>
              <a:t> – 1</a:t>
            </a:r>
            <a:r>
              <a:rPr kumimoji="1" lang="en-US" altLang="zh-TW" dirty="0"/>
              <a:t>9</a:t>
            </a:r>
            <a:r>
              <a:rPr kumimoji="1" lang="en-US" altLang="zh-HK" dirty="0"/>
              <a:t>.</a:t>
            </a:r>
            <a:r>
              <a:rPr kumimoji="1" lang="en-US" altLang="zh-TW" dirty="0"/>
              <a:t>6bii</a:t>
            </a:r>
            <a:r>
              <a:rPr kumimoji="1" lang="en-US" altLang="zh-HK" dirty="0"/>
              <a:t>(4)</a:t>
            </a:r>
            <a:endParaRPr kumimoji="1" lang="zh-HK" altLang="en-US" dirty="0"/>
          </a:p>
        </p:txBody>
      </p:sp>
      <p:pic>
        <p:nvPicPr>
          <p:cNvPr id="4" name="圖片 3" descr="一張含有 文字 的圖片&#10;&#10;自動產生的描述">
            <a:extLst>
              <a:ext uri="{FF2B5EF4-FFF2-40B4-BE49-F238E27FC236}">
                <a16:creationId xmlns:a16="http://schemas.microsoft.com/office/drawing/2014/main" id="{B69C5005-C67A-40B0-B036-0D348CA86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55" y="823602"/>
            <a:ext cx="10402045" cy="4337281"/>
          </a:xfrm>
          <a:prstGeom prst="rect">
            <a:avLst/>
          </a:prstGeom>
        </p:spPr>
      </p:pic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id="{13237470-B0E6-43AF-A20E-B5BCEDFEA6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55" y="5309151"/>
            <a:ext cx="6414245" cy="145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331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A3BBA-1888-DDD8-FA26-6AFD62D68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CDA1FDA-81A9-2CA4-0DDA-A5172F9DA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23" y="690180"/>
            <a:ext cx="11126753" cy="5477639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6B6DBC2A-F4FC-658C-A130-A30434824BDD}"/>
              </a:ext>
            </a:extLst>
          </p:cNvPr>
          <p:cNvSpPr/>
          <p:nvPr/>
        </p:nvSpPr>
        <p:spPr>
          <a:xfrm>
            <a:off x="2945095" y="4760241"/>
            <a:ext cx="1575790" cy="4978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9203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EA1D1-601F-2304-B259-2E248DAA5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2A1067-B9A4-F8B5-F4D2-09B01FD30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</a:t>
            </a:r>
            <a:r>
              <a:rPr kumimoji="1" lang="en-US" altLang="zh-HK" dirty="0"/>
              <a:t>.3</a:t>
            </a:r>
            <a:r>
              <a:rPr kumimoji="1" lang="zh-TW" altLang="en-US" dirty="0"/>
              <a:t>產品策略</a:t>
            </a:r>
            <a:r>
              <a:rPr kumimoji="1" lang="en-US" altLang="zh-HK" dirty="0"/>
              <a:t> – 22.5C(4)</a:t>
            </a:r>
            <a:endParaRPr kumimoji="1" lang="zh-HK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91D4DDC-F429-665C-D0E9-AA6595FF3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2007"/>
            <a:ext cx="12192000" cy="261699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59FE121-1F3D-D851-2616-D17B99B8B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55490"/>
            <a:ext cx="12192000" cy="94731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24512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2F132-48D8-D0D1-A0D6-63F328B5D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F36135-CDBE-E2B8-D4ED-92FF56D00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</a:t>
            </a:r>
            <a:r>
              <a:rPr kumimoji="1" lang="en-US" altLang="zh-HK" dirty="0"/>
              <a:t>.3</a:t>
            </a:r>
            <a:r>
              <a:rPr kumimoji="1" lang="zh-TW" altLang="en-US" dirty="0"/>
              <a:t>產品策略</a:t>
            </a:r>
            <a:r>
              <a:rPr kumimoji="1" lang="en-US" altLang="zh-HK" dirty="0"/>
              <a:t> – 22.5C(4)</a:t>
            </a:r>
            <a:endParaRPr kumimoji="1"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6906FD7-CEA8-74E5-467A-1E532063D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85" y="736867"/>
            <a:ext cx="11616229" cy="215348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F5544DE2-F337-0E46-4360-61F64C7E6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402" y="3424651"/>
            <a:ext cx="4629796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103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B40CD-8CA0-EBA6-A621-5FC99F3A6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F27AFC-8A9A-D364-C5A7-39C903160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</a:t>
            </a:r>
            <a:r>
              <a:rPr kumimoji="1" lang="en-US" altLang="zh-HK" dirty="0"/>
              <a:t>.3</a:t>
            </a:r>
            <a:r>
              <a:rPr kumimoji="1" lang="zh-TW" altLang="en-US" dirty="0"/>
              <a:t>產品策略</a:t>
            </a:r>
            <a:r>
              <a:rPr kumimoji="1" lang="en-US" altLang="zh-HK" dirty="0"/>
              <a:t> – 22.5C(4)</a:t>
            </a:r>
            <a:endParaRPr kumimoji="1" lang="zh-HK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03E5F6C-0064-69F9-8A15-56BFA8C4D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57" y="857026"/>
            <a:ext cx="9345929" cy="384832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689790E-13E4-25B4-1CBC-7B52EFD77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632" y="4944858"/>
            <a:ext cx="6706536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4722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E1C1A-D3E7-7520-201D-326BE47C4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80752B4-E2C1-9208-A712-21E885031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23" y="690180"/>
            <a:ext cx="11126753" cy="5477639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D31C5364-B483-3572-2620-889ED6FE1F1E}"/>
              </a:ext>
            </a:extLst>
          </p:cNvPr>
          <p:cNvSpPr/>
          <p:nvPr/>
        </p:nvSpPr>
        <p:spPr>
          <a:xfrm>
            <a:off x="2945095" y="5142796"/>
            <a:ext cx="1575790" cy="4978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1212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6183B-0F30-59D7-7722-47D32E0E3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81E1B7-AA02-99EB-DE60-B974F2347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</a:t>
            </a:r>
            <a:r>
              <a:rPr kumimoji="1" lang="en-US" altLang="zh-HK" dirty="0"/>
              <a:t>.3</a:t>
            </a:r>
            <a:r>
              <a:rPr kumimoji="1" lang="zh-TW" altLang="en-US" dirty="0"/>
              <a:t>產品策略</a:t>
            </a:r>
            <a:r>
              <a:rPr kumimoji="1" lang="en-US" altLang="zh-HK" dirty="0"/>
              <a:t> – 23.5d(4)</a:t>
            </a:r>
            <a:endParaRPr kumimoji="1"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A5EF64D-8619-15FE-72F9-709C354EA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3199"/>
            <a:ext cx="12192000" cy="92350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7BFF80E6-3AA7-5E74-87B5-9ED3C5D6C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21880"/>
            <a:ext cx="12192000" cy="158291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B7238C55-1350-7E72-F45B-80F82A07D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67902"/>
            <a:ext cx="12192000" cy="7077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1607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B5C18-5DD6-C09A-A308-773F4290B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EA09C3-0890-6F32-B365-CD250756F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</a:t>
            </a:r>
            <a:r>
              <a:rPr kumimoji="1" lang="en-US" altLang="zh-HK" dirty="0"/>
              <a:t>.3</a:t>
            </a:r>
            <a:r>
              <a:rPr kumimoji="1" lang="zh-TW" altLang="en-US" dirty="0"/>
              <a:t>產品策略</a:t>
            </a:r>
            <a:r>
              <a:rPr kumimoji="1" lang="en-US" altLang="zh-HK" dirty="0"/>
              <a:t> – 22.5C(4)</a:t>
            </a:r>
            <a:endParaRPr kumimoji="1"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5779302-5DC2-DCFD-270F-6657AE397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772" y="617518"/>
            <a:ext cx="11130455" cy="335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5754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090A5-E85A-1BB4-F6EF-740B5D230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AA66F4-49DC-F389-537B-CCD550B7E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</a:t>
            </a:r>
            <a:r>
              <a:rPr kumimoji="1" lang="en-US" altLang="zh-HK" dirty="0"/>
              <a:t>.3</a:t>
            </a:r>
            <a:r>
              <a:rPr kumimoji="1" lang="zh-TW" altLang="en-US" dirty="0"/>
              <a:t>產品策略</a:t>
            </a:r>
            <a:r>
              <a:rPr kumimoji="1" lang="en-US" altLang="zh-HK" dirty="0"/>
              <a:t> – 22.5C(4)</a:t>
            </a:r>
            <a:endParaRPr kumimoji="1"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ED7501C-52AA-7CAF-3BEB-2FDB9E81F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29" y="715184"/>
            <a:ext cx="10515600" cy="582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105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A8479-29A2-26E0-1FE7-1E7B83287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1DB169-EE4A-483C-1E18-127172D45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</a:t>
            </a:r>
            <a:r>
              <a:rPr kumimoji="1" lang="en-US" altLang="zh-HK" dirty="0"/>
              <a:t>.3</a:t>
            </a:r>
            <a:r>
              <a:rPr kumimoji="1" lang="zh-TW" altLang="en-US" dirty="0"/>
              <a:t>產品策略</a:t>
            </a:r>
            <a:r>
              <a:rPr kumimoji="1" lang="en-US" altLang="zh-HK" dirty="0"/>
              <a:t> – 22.5C(4)</a:t>
            </a:r>
            <a:endParaRPr kumimoji="1" lang="zh-HK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E93AA5D-93EF-F44E-C7AE-24C1B6037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26" y="798821"/>
            <a:ext cx="5209074" cy="600923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20FDCF9-6B0F-F092-90B2-D2C639463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8152" y="798821"/>
            <a:ext cx="1723697" cy="229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7305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700A3-E34B-BD54-2FA0-3FF2DEC5A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F25C46-79D0-EDC1-2517-B594A3393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</a:t>
            </a:r>
            <a:r>
              <a:rPr kumimoji="1" lang="en-US" altLang="zh-HK" dirty="0"/>
              <a:t>.3</a:t>
            </a:r>
            <a:r>
              <a:rPr kumimoji="1" lang="zh-TW" altLang="en-US" dirty="0"/>
              <a:t>產品策略</a:t>
            </a:r>
            <a:r>
              <a:rPr kumimoji="1" lang="en-US" altLang="zh-HK" dirty="0"/>
              <a:t> – 22.5C(4)</a:t>
            </a:r>
            <a:endParaRPr kumimoji="1"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C412A35-FD39-0ABF-B682-0A953000D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244" y="919457"/>
            <a:ext cx="7521482" cy="426613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8BF0446-AB37-C854-228D-D27F3B32B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244" y="5600588"/>
            <a:ext cx="9381811" cy="100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3510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849F5B-1039-4A73-AB18-423180E446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HK" dirty="0"/>
              <a:t>Price</a:t>
            </a:r>
            <a:endParaRPr lang="zh-HK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9BC7685-5195-4BCF-87E9-46F20EDE8F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7418571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1D803-81A4-7D20-BBE3-9A64BACA3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CB22C57-177E-01EC-A5C3-840C0CE56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23" y="690180"/>
            <a:ext cx="11126753" cy="5477639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B23A80A7-FBEA-E793-A134-6D5D49D6893F}"/>
              </a:ext>
            </a:extLst>
          </p:cNvPr>
          <p:cNvSpPr/>
          <p:nvPr/>
        </p:nvSpPr>
        <p:spPr>
          <a:xfrm>
            <a:off x="7139724" y="2722851"/>
            <a:ext cx="1575790" cy="4978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84825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5.4</a:t>
            </a:r>
            <a:r>
              <a:rPr kumimoji="1" lang="zh-TW" altLang="en-US" dirty="0"/>
              <a:t>定價策略</a:t>
            </a:r>
            <a:r>
              <a:rPr kumimoji="1" lang="en-US" altLang="zh-HK" dirty="0"/>
              <a:t> – 1</a:t>
            </a:r>
            <a:r>
              <a:rPr kumimoji="1" lang="en-US" altLang="zh-TW" dirty="0"/>
              <a:t>6</a:t>
            </a:r>
            <a:r>
              <a:rPr kumimoji="1" lang="en-US" altLang="zh-HK" dirty="0"/>
              <a:t>.</a:t>
            </a:r>
            <a:r>
              <a:rPr kumimoji="1" lang="en-US" altLang="zh-TW" dirty="0"/>
              <a:t>9a</a:t>
            </a:r>
            <a:r>
              <a:rPr kumimoji="1" lang="en-US" altLang="zh-HK" dirty="0"/>
              <a:t>(8)</a:t>
            </a:r>
            <a:endParaRPr kumimoji="1" lang="zh-HK" altLang="en-US" dirty="0"/>
          </a:p>
        </p:txBody>
      </p:sp>
      <p:pic>
        <p:nvPicPr>
          <p:cNvPr id="4" name="圖片 3" descr="一張含有 文字 的圖片&#10;&#10;自動產生的描述">
            <a:extLst>
              <a:ext uri="{FF2B5EF4-FFF2-40B4-BE49-F238E27FC236}">
                <a16:creationId xmlns:a16="http://schemas.microsoft.com/office/drawing/2014/main" id="{20F6C27E-1CBE-4D2A-A45F-C927FB605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327" y="1030472"/>
            <a:ext cx="10931346" cy="165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5908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5.4</a:t>
            </a:r>
            <a:r>
              <a:rPr kumimoji="1" lang="zh-TW" altLang="en-US" dirty="0"/>
              <a:t>定價策略</a:t>
            </a:r>
            <a:r>
              <a:rPr kumimoji="1" lang="en-US" altLang="zh-HK" dirty="0"/>
              <a:t> – 1</a:t>
            </a:r>
            <a:r>
              <a:rPr kumimoji="1" lang="en-US" altLang="zh-TW" dirty="0"/>
              <a:t>6</a:t>
            </a:r>
            <a:r>
              <a:rPr kumimoji="1" lang="en-US" altLang="zh-HK" dirty="0"/>
              <a:t>.</a:t>
            </a:r>
            <a:r>
              <a:rPr kumimoji="1" lang="en-US" altLang="zh-TW" dirty="0"/>
              <a:t>9a</a:t>
            </a:r>
            <a:r>
              <a:rPr kumimoji="1" lang="en-US" altLang="zh-HK" dirty="0"/>
              <a:t>(8)</a:t>
            </a:r>
            <a:endParaRPr kumimoji="1" lang="zh-HK" altLang="en-US" dirty="0"/>
          </a:p>
        </p:txBody>
      </p:sp>
      <p:pic>
        <p:nvPicPr>
          <p:cNvPr id="4" name="圖片 3" descr="一張含有 文字, 收據 的圖片&#10;&#10;自動產生的描述">
            <a:extLst>
              <a:ext uri="{FF2B5EF4-FFF2-40B4-BE49-F238E27FC236}">
                <a16:creationId xmlns:a16="http://schemas.microsoft.com/office/drawing/2014/main" id="{AE99EAA7-3D54-48A5-B5AA-2860454F7B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809" y="745170"/>
            <a:ext cx="11314566" cy="4490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7555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5.4</a:t>
            </a:r>
            <a:r>
              <a:rPr kumimoji="1" lang="zh-TW" altLang="en-US" dirty="0"/>
              <a:t>定價策略</a:t>
            </a:r>
            <a:r>
              <a:rPr kumimoji="1" lang="en-US" altLang="zh-HK" dirty="0"/>
              <a:t> – 1</a:t>
            </a:r>
            <a:r>
              <a:rPr kumimoji="1" lang="en-US" altLang="zh-TW" dirty="0"/>
              <a:t>6</a:t>
            </a:r>
            <a:r>
              <a:rPr kumimoji="1" lang="en-US" altLang="zh-HK" dirty="0"/>
              <a:t>.</a:t>
            </a:r>
            <a:r>
              <a:rPr kumimoji="1" lang="en-US" altLang="zh-TW" dirty="0"/>
              <a:t>9a</a:t>
            </a:r>
            <a:r>
              <a:rPr kumimoji="1" lang="en-US" altLang="zh-HK" dirty="0"/>
              <a:t>(8)</a:t>
            </a:r>
            <a:endParaRPr kumimoji="1" lang="zh-HK" altLang="en-US" dirty="0"/>
          </a:p>
        </p:txBody>
      </p:sp>
      <p:pic>
        <p:nvPicPr>
          <p:cNvPr id="4" name="圖片 3" descr="一張含有 文字 的圖片&#10;&#10;自動產生的描述">
            <a:extLst>
              <a:ext uri="{FF2B5EF4-FFF2-40B4-BE49-F238E27FC236}">
                <a16:creationId xmlns:a16="http://schemas.microsoft.com/office/drawing/2014/main" id="{8F9AB56D-4AFB-44A1-9C81-03F5165935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625" y="617518"/>
            <a:ext cx="9545382" cy="3258005"/>
          </a:xfrm>
          <a:prstGeom prst="rect">
            <a:avLst/>
          </a:prstGeom>
        </p:spPr>
      </p:pic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id="{42427E4A-93AB-4C1D-AA79-0CF34B6E2E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283" y="4255960"/>
            <a:ext cx="9250066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2234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5.4</a:t>
            </a:r>
            <a:r>
              <a:rPr kumimoji="1" lang="zh-TW" altLang="en-US" dirty="0"/>
              <a:t>定價策略</a:t>
            </a:r>
            <a:r>
              <a:rPr kumimoji="1" lang="en-US" altLang="zh-HK" dirty="0"/>
              <a:t> – 1</a:t>
            </a:r>
            <a:r>
              <a:rPr kumimoji="1" lang="en-US" altLang="zh-TW" dirty="0"/>
              <a:t>6</a:t>
            </a:r>
            <a:r>
              <a:rPr kumimoji="1" lang="en-US" altLang="zh-HK" dirty="0"/>
              <a:t>.</a:t>
            </a:r>
            <a:r>
              <a:rPr kumimoji="1" lang="en-US" altLang="zh-TW" dirty="0"/>
              <a:t>9a</a:t>
            </a:r>
            <a:r>
              <a:rPr kumimoji="1" lang="en-US" altLang="zh-HK" dirty="0"/>
              <a:t>(8) – </a:t>
            </a:r>
            <a:r>
              <a:rPr kumimoji="1" lang="zh-TW" altLang="en-US" dirty="0"/>
              <a:t>錯誤示範</a:t>
            </a:r>
            <a:endParaRPr kumimoji="1" lang="zh-HK" altLang="en-US" dirty="0"/>
          </a:p>
        </p:txBody>
      </p:sp>
      <p:pic>
        <p:nvPicPr>
          <p:cNvPr id="5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9AF29757-E834-4E25-B709-01B432728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96" y="813161"/>
            <a:ext cx="6585829" cy="576155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B8201F1-14B2-4FFE-9D4A-1FC57CA3B85D}"/>
              </a:ext>
            </a:extLst>
          </p:cNvPr>
          <p:cNvSpPr txBox="1"/>
          <p:nvPr/>
        </p:nvSpPr>
        <p:spPr>
          <a:xfrm>
            <a:off x="8331595" y="3021376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solidFill>
                  <a:srgbClr val="FF0000"/>
                </a:solidFill>
                <a:highlight>
                  <a:srgbClr val="FFFF00"/>
                </a:highlight>
              </a:rPr>
              <a:t>沒有簡要說明</a:t>
            </a:r>
          </a:p>
        </p:txBody>
      </p:sp>
      <p:sp>
        <p:nvSpPr>
          <p:cNvPr id="8" name="右大括弧 7">
            <a:extLst>
              <a:ext uri="{FF2B5EF4-FFF2-40B4-BE49-F238E27FC236}">
                <a16:creationId xmlns:a16="http://schemas.microsoft.com/office/drawing/2014/main" id="{1CE28965-14BF-47DC-A80B-74BA35C0EEC9}"/>
              </a:ext>
            </a:extLst>
          </p:cNvPr>
          <p:cNvSpPr/>
          <p:nvPr/>
        </p:nvSpPr>
        <p:spPr>
          <a:xfrm>
            <a:off x="7623672" y="813161"/>
            <a:ext cx="594911" cy="5761550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30461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6E88687-D3A4-D163-B0AD-446E54E88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23" y="690180"/>
            <a:ext cx="11126753" cy="5477639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7151335" y="5069085"/>
            <a:ext cx="1575790" cy="4978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4402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5.4</a:t>
            </a:r>
            <a:r>
              <a:rPr kumimoji="1" lang="zh-TW" altLang="en-US" dirty="0"/>
              <a:t>定價策略</a:t>
            </a:r>
            <a:r>
              <a:rPr kumimoji="1" lang="en-US" altLang="zh-HK" dirty="0"/>
              <a:t> – 23#7a(10)</a:t>
            </a:r>
            <a:endParaRPr kumimoji="1" lang="zh-HK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EEAF540-3F90-4285-B5A2-8D141C59C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" y="820073"/>
            <a:ext cx="11750040" cy="191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5507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5.4</a:t>
            </a:r>
            <a:r>
              <a:rPr kumimoji="1" lang="zh-TW" altLang="en-US" dirty="0"/>
              <a:t>定價策略</a:t>
            </a:r>
            <a:r>
              <a:rPr kumimoji="1" lang="en-US" altLang="zh-HK" dirty="0"/>
              <a:t> – 23#7a(10)</a:t>
            </a:r>
            <a:endParaRPr kumimoji="1"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BD445E5-DAEF-48C5-8ADD-176B6DFDD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617518"/>
            <a:ext cx="11369040" cy="375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9267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5.4</a:t>
            </a:r>
            <a:r>
              <a:rPr kumimoji="1" lang="zh-TW" altLang="en-US" dirty="0"/>
              <a:t>定價策略</a:t>
            </a:r>
            <a:r>
              <a:rPr kumimoji="1" lang="en-US" altLang="zh-HK" dirty="0"/>
              <a:t> – 23#7a(10)</a:t>
            </a:r>
            <a:endParaRPr kumimoji="1"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258A376-887E-4F8D-927F-61CAF8C86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" y="617518"/>
            <a:ext cx="8047922" cy="619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3136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5.4</a:t>
            </a:r>
            <a:r>
              <a:rPr kumimoji="1" lang="zh-TW" altLang="en-US" dirty="0"/>
              <a:t>定價策略</a:t>
            </a:r>
            <a:r>
              <a:rPr kumimoji="1" lang="en-US" altLang="zh-HK" dirty="0"/>
              <a:t> – 23#7a(10)</a:t>
            </a:r>
            <a:endParaRPr kumimoji="1" lang="zh-HK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39C0835-242C-4938-AE0A-9D300EF98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2367"/>
            <a:ext cx="9240540" cy="628737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700AF0E-AE66-4FEA-B5FD-ED28014D0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1964" y="448020"/>
            <a:ext cx="3724795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0023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1D803-81A4-7D20-BBE3-9A64BACA3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CB22C57-177E-01EC-A5C3-840C0CE56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23" y="690180"/>
            <a:ext cx="11126753" cy="5477639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B23A80A7-FBEA-E793-A134-6D5D49D6893F}"/>
              </a:ext>
            </a:extLst>
          </p:cNvPr>
          <p:cNvSpPr/>
          <p:nvPr/>
        </p:nvSpPr>
        <p:spPr>
          <a:xfrm>
            <a:off x="9242844" y="2113251"/>
            <a:ext cx="1575790" cy="49786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67062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5.4</a:t>
            </a:r>
            <a:r>
              <a:rPr kumimoji="1" lang="zh-TW" altLang="en-US" dirty="0"/>
              <a:t>定價策略 </a:t>
            </a:r>
            <a:r>
              <a:rPr kumimoji="1" lang="en-US" altLang="zh-HK" dirty="0"/>
              <a:t>– 1</a:t>
            </a:r>
            <a:r>
              <a:rPr kumimoji="1" lang="en-US" altLang="zh-TW" dirty="0"/>
              <a:t>4</a:t>
            </a:r>
            <a:r>
              <a:rPr kumimoji="1" lang="en-US" altLang="zh-HK" dirty="0"/>
              <a:t>.</a:t>
            </a:r>
            <a:r>
              <a:rPr kumimoji="1" lang="en-US" altLang="zh-TW" dirty="0"/>
              <a:t>5</a:t>
            </a:r>
            <a:r>
              <a:rPr kumimoji="1" lang="en-US" altLang="zh-HK" dirty="0"/>
              <a:t>(4)</a:t>
            </a:r>
            <a:endParaRPr kumimoji="1"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F05AF92-E392-4B26-B950-8A339AEA4D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2000" contrast="9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51" y="888936"/>
            <a:ext cx="11069924" cy="102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4457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5.4</a:t>
            </a:r>
            <a:r>
              <a:rPr kumimoji="1" lang="zh-TW" altLang="en-US" dirty="0"/>
              <a:t>定價策略 </a:t>
            </a:r>
            <a:r>
              <a:rPr kumimoji="1" lang="en-US" altLang="zh-HK" dirty="0"/>
              <a:t>– 1</a:t>
            </a:r>
            <a:r>
              <a:rPr kumimoji="1" lang="en-US" altLang="zh-TW" dirty="0"/>
              <a:t>4</a:t>
            </a:r>
            <a:r>
              <a:rPr kumimoji="1" lang="en-US" altLang="zh-HK" dirty="0"/>
              <a:t>.</a:t>
            </a:r>
            <a:r>
              <a:rPr kumimoji="1" lang="en-US" altLang="zh-TW" dirty="0"/>
              <a:t>5</a:t>
            </a:r>
            <a:r>
              <a:rPr kumimoji="1" lang="en-US" altLang="zh-HK" dirty="0"/>
              <a:t>(4)</a:t>
            </a:r>
            <a:endParaRPr kumimoji="1" lang="zh-HK" altLang="en-US" dirty="0"/>
          </a:p>
        </p:txBody>
      </p:sp>
      <p:pic>
        <p:nvPicPr>
          <p:cNvPr id="4" name="圖片 3" descr="一張含有 桌 的圖片&#10;&#10;自動產生的描述">
            <a:extLst>
              <a:ext uri="{FF2B5EF4-FFF2-40B4-BE49-F238E27FC236}">
                <a16:creationId xmlns:a16="http://schemas.microsoft.com/office/drawing/2014/main" id="{7892CB2D-8884-4E2A-866A-0F1729DA8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22" y="1219002"/>
            <a:ext cx="11174740" cy="31352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412527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5.4</a:t>
            </a:r>
            <a:r>
              <a:rPr kumimoji="1" lang="zh-TW" altLang="en-US" dirty="0"/>
              <a:t>定價策略 </a:t>
            </a:r>
            <a:r>
              <a:rPr kumimoji="1" lang="en-US" altLang="zh-HK" dirty="0"/>
              <a:t>– 1</a:t>
            </a:r>
            <a:r>
              <a:rPr kumimoji="1" lang="en-US" altLang="zh-TW" dirty="0"/>
              <a:t>4</a:t>
            </a:r>
            <a:r>
              <a:rPr kumimoji="1" lang="en-US" altLang="zh-HK" dirty="0"/>
              <a:t>.</a:t>
            </a:r>
            <a:r>
              <a:rPr kumimoji="1" lang="en-US" altLang="zh-TW" dirty="0"/>
              <a:t>5</a:t>
            </a:r>
            <a:r>
              <a:rPr kumimoji="1" lang="en-US" altLang="zh-HK" dirty="0"/>
              <a:t>(4)</a:t>
            </a:r>
            <a:endParaRPr kumimoji="1" lang="zh-HK" altLang="en-US" dirty="0"/>
          </a:p>
        </p:txBody>
      </p:sp>
      <p:pic>
        <p:nvPicPr>
          <p:cNvPr id="4" name="圖片 3" descr="一張含有 文字 的圖片&#10;&#10;自動產生的描述">
            <a:extLst>
              <a:ext uri="{FF2B5EF4-FFF2-40B4-BE49-F238E27FC236}">
                <a16:creationId xmlns:a16="http://schemas.microsoft.com/office/drawing/2014/main" id="{A875CECA-0F00-4750-A3A0-F8E154FAFD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33" y="617518"/>
            <a:ext cx="7458857" cy="598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8180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5.4</a:t>
            </a:r>
            <a:r>
              <a:rPr kumimoji="1" lang="zh-TW" altLang="en-US" dirty="0"/>
              <a:t>定價策略 </a:t>
            </a:r>
            <a:r>
              <a:rPr kumimoji="1" lang="en-US" altLang="zh-HK" dirty="0"/>
              <a:t>– 1</a:t>
            </a:r>
            <a:r>
              <a:rPr kumimoji="1" lang="en-US" altLang="zh-TW" dirty="0"/>
              <a:t>4</a:t>
            </a:r>
            <a:r>
              <a:rPr kumimoji="1" lang="en-US" altLang="zh-HK" dirty="0"/>
              <a:t>.</a:t>
            </a:r>
            <a:r>
              <a:rPr kumimoji="1" lang="en-US" altLang="zh-TW" dirty="0"/>
              <a:t>5</a:t>
            </a:r>
            <a:r>
              <a:rPr kumimoji="1" lang="en-US" altLang="zh-HK" dirty="0"/>
              <a:t>(4) – </a:t>
            </a:r>
            <a:r>
              <a:rPr kumimoji="1" lang="zh-TW" altLang="en-US" dirty="0"/>
              <a:t>錯誤示範</a:t>
            </a:r>
            <a:endParaRPr kumimoji="1" lang="zh-HK" altLang="en-US" dirty="0"/>
          </a:p>
        </p:txBody>
      </p:sp>
      <p:pic>
        <p:nvPicPr>
          <p:cNvPr id="4" name="圖片 3" descr="一張含有 文字, 收據 的圖片&#10;&#10;自動產生的描述">
            <a:extLst>
              <a:ext uri="{FF2B5EF4-FFF2-40B4-BE49-F238E27FC236}">
                <a16:creationId xmlns:a16="http://schemas.microsoft.com/office/drawing/2014/main" id="{D82B3406-22DE-4D26-9434-5CAC356377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902" y="955418"/>
            <a:ext cx="10948310" cy="293907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5BCA884A-A849-4750-8B12-99D8B9A371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902" y="4232395"/>
            <a:ext cx="9659698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0461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6E88687-D3A4-D163-B0AD-446E54E88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23" y="690180"/>
            <a:ext cx="11126753" cy="5477639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9234134" y="3641605"/>
            <a:ext cx="1576105" cy="70687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70879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5.4</a:t>
            </a:r>
            <a:r>
              <a:rPr kumimoji="1" lang="zh-TW" altLang="en-US" dirty="0"/>
              <a:t>定價策略</a:t>
            </a:r>
            <a:r>
              <a:rPr kumimoji="1" lang="en-US" altLang="zh-HK" dirty="0"/>
              <a:t> – </a:t>
            </a:r>
            <a:r>
              <a:rPr kumimoji="1" lang="en-US" altLang="zh-TW" dirty="0"/>
              <a:t>19</a:t>
            </a:r>
            <a:r>
              <a:rPr kumimoji="1" lang="en-US" altLang="zh-HK" dirty="0"/>
              <a:t>.</a:t>
            </a:r>
            <a:r>
              <a:rPr kumimoji="1" lang="en-US" altLang="zh-TW" dirty="0"/>
              <a:t>5di</a:t>
            </a:r>
            <a:r>
              <a:rPr kumimoji="1" lang="en-US" altLang="zh-HK" dirty="0"/>
              <a:t>(1)</a:t>
            </a:r>
            <a:r>
              <a:rPr kumimoji="1" lang="en-US" altLang="zh-TW" dirty="0"/>
              <a:t>, 5dii</a:t>
            </a:r>
            <a:r>
              <a:rPr kumimoji="1" lang="en-US" altLang="zh-HK" dirty="0"/>
              <a:t>(2)</a:t>
            </a:r>
            <a:endParaRPr kumimoji="1" lang="zh-HK" altLang="en-US" dirty="0"/>
          </a:p>
        </p:txBody>
      </p:sp>
      <p:pic>
        <p:nvPicPr>
          <p:cNvPr id="4" name="圖片 3" descr="一張含有 文字, 收據 的圖片&#10;&#10;自動產生的描述">
            <a:extLst>
              <a:ext uri="{FF2B5EF4-FFF2-40B4-BE49-F238E27FC236}">
                <a16:creationId xmlns:a16="http://schemas.microsoft.com/office/drawing/2014/main" id="{7CFFFFAD-BCCD-6547-A604-8177A112E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576" y="909878"/>
            <a:ext cx="10750309" cy="440665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809FC16F-4981-A94A-B72D-7A5A59A63D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576" y="5608897"/>
            <a:ext cx="9546196" cy="109586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438649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5.4</a:t>
            </a:r>
            <a:r>
              <a:rPr kumimoji="1" lang="zh-TW" altLang="en-US" dirty="0"/>
              <a:t>定價策略</a:t>
            </a:r>
            <a:r>
              <a:rPr kumimoji="1" lang="en-US" altLang="zh-HK" dirty="0"/>
              <a:t> – </a:t>
            </a:r>
            <a:r>
              <a:rPr kumimoji="1" lang="en-US" altLang="zh-TW" dirty="0"/>
              <a:t>19</a:t>
            </a:r>
            <a:r>
              <a:rPr kumimoji="1" lang="en-US" altLang="zh-HK" dirty="0"/>
              <a:t>.</a:t>
            </a:r>
            <a:r>
              <a:rPr kumimoji="1" lang="en-US" altLang="zh-TW" dirty="0"/>
              <a:t>5di</a:t>
            </a:r>
            <a:r>
              <a:rPr kumimoji="1" lang="en-US" altLang="zh-HK" dirty="0"/>
              <a:t>(1)</a:t>
            </a:r>
            <a:r>
              <a:rPr kumimoji="1" lang="en-US" altLang="zh-TW" dirty="0"/>
              <a:t>, 5dii</a:t>
            </a:r>
            <a:r>
              <a:rPr kumimoji="1" lang="en-US" altLang="zh-HK" dirty="0"/>
              <a:t>(2)</a:t>
            </a:r>
            <a:endParaRPr kumimoji="1" lang="zh-HK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4808D84-CF5E-C442-8504-8B2F3AC2B1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241" y="1522534"/>
            <a:ext cx="11013344" cy="21628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500421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5.4</a:t>
            </a:r>
            <a:r>
              <a:rPr kumimoji="1" lang="zh-TW" altLang="en-US" dirty="0"/>
              <a:t>定價策略</a:t>
            </a:r>
            <a:r>
              <a:rPr kumimoji="1" lang="en-US" altLang="zh-HK" dirty="0"/>
              <a:t> – </a:t>
            </a:r>
            <a:r>
              <a:rPr kumimoji="1" lang="en-US" altLang="zh-TW" dirty="0"/>
              <a:t>19</a:t>
            </a:r>
            <a:r>
              <a:rPr kumimoji="1" lang="en-US" altLang="zh-HK" dirty="0"/>
              <a:t>.</a:t>
            </a:r>
            <a:r>
              <a:rPr kumimoji="1" lang="en-US" altLang="zh-TW" dirty="0"/>
              <a:t>5dii</a:t>
            </a:r>
            <a:r>
              <a:rPr kumimoji="1" lang="en-US" altLang="zh-HK" dirty="0"/>
              <a:t>(2) </a:t>
            </a:r>
            <a:r>
              <a:rPr kumimoji="1" lang="en-US" altLang="zh-TW" dirty="0"/>
              <a:t>– </a:t>
            </a:r>
            <a:r>
              <a:rPr kumimoji="1" lang="zh-TW" altLang="en-US" dirty="0"/>
              <a:t>錯誤示範</a:t>
            </a:r>
            <a:endParaRPr kumimoji="1" lang="zh-HK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1384BE2-80AE-44D2-B6E5-D65CB05CDD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712" y="1052660"/>
            <a:ext cx="9383434" cy="1124107"/>
          </a:xfrm>
          <a:prstGeom prst="rect">
            <a:avLst/>
          </a:prstGeom>
        </p:spPr>
      </p:pic>
      <p:pic>
        <p:nvPicPr>
          <p:cNvPr id="8" name="圖片 7" descr="一張含有 文字 的圖片&#10;&#10;自動產生的描述">
            <a:extLst>
              <a:ext uri="{FF2B5EF4-FFF2-40B4-BE49-F238E27FC236}">
                <a16:creationId xmlns:a16="http://schemas.microsoft.com/office/drawing/2014/main" id="{DBF3BD8A-EB5B-4321-A123-3279DC9C81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08" y="2503137"/>
            <a:ext cx="6140321" cy="92586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0B1B8FDC-66B8-4AC6-BD8F-E31CC72484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712" y="3897461"/>
            <a:ext cx="9164329" cy="1124107"/>
          </a:xfrm>
          <a:prstGeom prst="rect">
            <a:avLst/>
          </a:prstGeom>
        </p:spPr>
      </p:pic>
      <p:pic>
        <p:nvPicPr>
          <p:cNvPr id="12" name="圖片 11" descr="一張含有 文字 的圖片&#10;&#10;自動產生的描述">
            <a:extLst>
              <a:ext uri="{FF2B5EF4-FFF2-40B4-BE49-F238E27FC236}">
                <a16:creationId xmlns:a16="http://schemas.microsoft.com/office/drawing/2014/main" id="{5781AE25-1CE4-4F81-B6F9-404737BFA7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34" y="5314619"/>
            <a:ext cx="8015038" cy="112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2216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6E88687-D3A4-D163-B0AD-446E54E88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23" y="690180"/>
            <a:ext cx="11126753" cy="5477639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9193494" y="4352805"/>
            <a:ext cx="1576105" cy="70687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58438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5.4</a:t>
            </a:r>
            <a:r>
              <a:rPr kumimoji="1" lang="zh-TW" altLang="en-US" dirty="0"/>
              <a:t>定價策略</a:t>
            </a:r>
            <a:r>
              <a:rPr kumimoji="1" lang="en-US" altLang="zh-HK" dirty="0"/>
              <a:t> – </a:t>
            </a:r>
            <a:r>
              <a:rPr kumimoji="1" lang="zh-TW" altLang="en-US" dirty="0"/>
              <a:t>新產品定價 </a:t>
            </a:r>
            <a:r>
              <a:rPr kumimoji="1" lang="en-US" altLang="zh-HK" dirty="0"/>
              <a:t>21.</a:t>
            </a:r>
            <a:r>
              <a:rPr kumimoji="1" lang="en-US" altLang="zh-TW" dirty="0"/>
              <a:t>5b</a:t>
            </a:r>
            <a:r>
              <a:rPr kumimoji="1" lang="en-US" altLang="zh-HK" dirty="0"/>
              <a:t>(2)</a:t>
            </a:r>
            <a:endParaRPr kumimoji="1"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5757DEF-FEDF-4B55-B6F2-F65A49EEC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80" y="3925753"/>
            <a:ext cx="11775440" cy="7342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63F0094-15BB-4FB3-9C95-B60FC1A0AB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027535"/>
            <a:ext cx="12192000" cy="90149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30A32381-1B53-4746-9ADC-9D707475AF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222826"/>
            <a:ext cx="12192000" cy="140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9757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5.4</a:t>
            </a:r>
            <a:r>
              <a:rPr kumimoji="1" lang="zh-TW" altLang="en-US" dirty="0"/>
              <a:t>定價策略</a:t>
            </a:r>
            <a:r>
              <a:rPr kumimoji="1" lang="en-US" altLang="zh-HK" dirty="0"/>
              <a:t> – </a:t>
            </a:r>
            <a:r>
              <a:rPr kumimoji="1" lang="zh-TW" altLang="en-US" dirty="0"/>
              <a:t>新產品定價 </a:t>
            </a:r>
            <a:r>
              <a:rPr kumimoji="1" lang="en-US" altLang="zh-HK" dirty="0"/>
              <a:t>21.</a:t>
            </a:r>
            <a:r>
              <a:rPr kumimoji="1" lang="en-US" altLang="zh-TW" dirty="0"/>
              <a:t>5b</a:t>
            </a:r>
            <a:r>
              <a:rPr kumimoji="1" lang="en-US" altLang="zh-HK" dirty="0"/>
              <a:t>(2)</a:t>
            </a:r>
            <a:endParaRPr kumimoji="1"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2533C84-4E38-4186-81FC-0A1E63F679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5945" y="926322"/>
            <a:ext cx="11498614" cy="220295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77100B9-8D7E-48A2-A622-E5D4D6BCD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945" y="3429000"/>
            <a:ext cx="10664615" cy="182421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6D4219B-AA57-46D3-9F55-EE5E7527F2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945" y="5337636"/>
            <a:ext cx="6836460" cy="118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7173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6E88687-D3A4-D163-B0AD-446E54E88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23" y="690180"/>
            <a:ext cx="11126753" cy="5477639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9244294" y="5267205"/>
            <a:ext cx="1576105" cy="70687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53485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5.4</a:t>
            </a:r>
            <a:r>
              <a:rPr kumimoji="1" lang="zh-TW" altLang="en-US" dirty="0"/>
              <a:t>定價策略</a:t>
            </a:r>
            <a:r>
              <a:rPr kumimoji="1" lang="en-US" altLang="zh-HK" dirty="0"/>
              <a:t> – </a:t>
            </a:r>
            <a:r>
              <a:rPr kumimoji="1" lang="zh-TW" altLang="en-US" dirty="0"/>
              <a:t>新產品定價 </a:t>
            </a:r>
            <a:r>
              <a:rPr kumimoji="1" lang="en-US" altLang="zh-HK" dirty="0"/>
              <a:t>24.</a:t>
            </a:r>
            <a:r>
              <a:rPr kumimoji="1" lang="en-US" altLang="zh-TW" dirty="0"/>
              <a:t>2b</a:t>
            </a:r>
            <a:r>
              <a:rPr kumimoji="1" lang="en-US" altLang="zh-HK" dirty="0"/>
              <a:t>(4)</a:t>
            </a:r>
            <a:endParaRPr kumimoji="1"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B55C95C-5760-4621-9527-7B1FC0705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4431"/>
            <a:ext cx="12192000" cy="102993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1B6207B8-5DBD-41EB-BC09-7B1A7535F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2391235"/>
            <a:ext cx="11938000" cy="7357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392540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5.4</a:t>
            </a:r>
            <a:r>
              <a:rPr kumimoji="1" lang="zh-TW" altLang="en-US" dirty="0"/>
              <a:t>定價策略</a:t>
            </a:r>
            <a:r>
              <a:rPr kumimoji="1" lang="en-US" altLang="zh-HK" dirty="0"/>
              <a:t> – </a:t>
            </a:r>
            <a:r>
              <a:rPr kumimoji="1" lang="zh-TW" altLang="en-US" dirty="0"/>
              <a:t>新產品定價 </a:t>
            </a:r>
            <a:r>
              <a:rPr kumimoji="1" lang="en-US" altLang="zh-HK"/>
              <a:t>24.</a:t>
            </a:r>
            <a:r>
              <a:rPr kumimoji="1" lang="en-US" altLang="zh-TW"/>
              <a:t>2b</a:t>
            </a:r>
            <a:r>
              <a:rPr kumimoji="1" lang="en-US" altLang="zh-HK"/>
              <a:t>(4)</a:t>
            </a:r>
            <a:endParaRPr kumimoji="1"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8AFBE07-F353-4115-BB31-ED6ADB700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22" y="769010"/>
            <a:ext cx="11643518" cy="475931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5067F9B7-B9A3-43AF-B800-174EBBEA6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22" y="5803800"/>
            <a:ext cx="5493540" cy="86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8806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5.4</a:t>
            </a:r>
            <a:r>
              <a:rPr kumimoji="1" lang="zh-TW" altLang="en-US" dirty="0"/>
              <a:t>定價策略</a:t>
            </a:r>
            <a:r>
              <a:rPr kumimoji="1" lang="en-US" altLang="zh-HK" dirty="0"/>
              <a:t> – </a:t>
            </a:r>
            <a:r>
              <a:rPr kumimoji="1" lang="zh-TW" altLang="en-US" dirty="0"/>
              <a:t>新產品定價 </a:t>
            </a:r>
            <a:r>
              <a:rPr kumimoji="1" lang="en-US" altLang="zh-HK"/>
              <a:t>24.</a:t>
            </a:r>
            <a:r>
              <a:rPr kumimoji="1" lang="en-US" altLang="zh-TW"/>
              <a:t>2b</a:t>
            </a:r>
            <a:r>
              <a:rPr kumimoji="1" lang="en-US" altLang="zh-HK"/>
              <a:t>(4)</a:t>
            </a:r>
            <a:endParaRPr kumimoji="1"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276C6C5-B9F5-4E19-83E3-9336C06BA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12" y="895757"/>
            <a:ext cx="9535856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8190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849F5B-1039-4A73-AB18-423180E446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HK" dirty="0"/>
              <a:t>Place</a:t>
            </a:r>
            <a:endParaRPr lang="zh-HK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9BC7685-5195-4BCF-87E9-46F20EDE8F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202597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595C02A-6AF2-484F-88D7-F29A29A5D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92" y="1018837"/>
            <a:ext cx="10679015" cy="4820323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2861093" y="2809873"/>
            <a:ext cx="1575790" cy="35777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89709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5.5</a:t>
            </a:r>
            <a:r>
              <a:rPr kumimoji="1" lang="zh-TW" altLang="en-US" dirty="0"/>
              <a:t>分銷策略</a:t>
            </a:r>
            <a:r>
              <a:rPr kumimoji="1" lang="en-US" altLang="zh-HK" dirty="0"/>
              <a:t> – </a:t>
            </a:r>
            <a:r>
              <a:rPr kumimoji="1" lang="en-US" altLang="zh-TW" dirty="0"/>
              <a:t>16</a:t>
            </a:r>
            <a:r>
              <a:rPr kumimoji="1" lang="en-US" altLang="zh-HK" dirty="0"/>
              <a:t>.</a:t>
            </a:r>
            <a:r>
              <a:rPr kumimoji="1" lang="en-US" altLang="zh-TW" dirty="0"/>
              <a:t>3</a:t>
            </a:r>
            <a:r>
              <a:rPr kumimoji="1" lang="en-US" altLang="zh-HK" dirty="0"/>
              <a:t>(</a:t>
            </a:r>
            <a:r>
              <a:rPr kumimoji="1" lang="en-US" altLang="zh-TW" dirty="0"/>
              <a:t>6</a:t>
            </a:r>
            <a:r>
              <a:rPr kumimoji="1" lang="en-US" altLang="zh-HK" dirty="0"/>
              <a:t>)</a:t>
            </a:r>
            <a:endParaRPr kumimoji="1"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E8C5A94-D5EE-4288-BAED-B60DD0E71F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87" y="1124343"/>
            <a:ext cx="11331026" cy="1034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9305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5.5</a:t>
            </a:r>
            <a:r>
              <a:rPr kumimoji="1" lang="zh-TW" altLang="en-US" dirty="0"/>
              <a:t>分銷策略</a:t>
            </a:r>
            <a:r>
              <a:rPr kumimoji="1" lang="en-US" altLang="zh-HK" dirty="0"/>
              <a:t> – </a:t>
            </a:r>
            <a:r>
              <a:rPr kumimoji="1" lang="en-US" altLang="zh-TW" dirty="0"/>
              <a:t>16</a:t>
            </a:r>
            <a:r>
              <a:rPr kumimoji="1" lang="en-US" altLang="zh-HK" dirty="0"/>
              <a:t>.</a:t>
            </a:r>
            <a:r>
              <a:rPr kumimoji="1" lang="en-US" altLang="zh-TW" dirty="0"/>
              <a:t>3</a:t>
            </a:r>
            <a:r>
              <a:rPr kumimoji="1" lang="en-US" altLang="zh-HK" dirty="0"/>
              <a:t>(</a:t>
            </a:r>
            <a:r>
              <a:rPr kumimoji="1" lang="en-US" altLang="zh-TW" dirty="0"/>
              <a:t>6</a:t>
            </a:r>
            <a:r>
              <a:rPr kumimoji="1" lang="en-US" altLang="zh-HK" dirty="0"/>
              <a:t>)</a:t>
            </a:r>
            <a:endParaRPr kumimoji="1" lang="zh-HK" altLang="en-US" dirty="0"/>
          </a:p>
        </p:txBody>
      </p:sp>
      <p:pic>
        <p:nvPicPr>
          <p:cNvPr id="5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16883DD3-7CB0-4A25-AD93-683F6C70DB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826" y="715415"/>
            <a:ext cx="11556347" cy="34425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908567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5.5</a:t>
            </a:r>
            <a:r>
              <a:rPr kumimoji="1" lang="zh-TW" altLang="en-US" dirty="0"/>
              <a:t>分銷策略</a:t>
            </a:r>
            <a:r>
              <a:rPr kumimoji="1" lang="en-US" altLang="zh-HK" dirty="0"/>
              <a:t> – </a:t>
            </a:r>
            <a:r>
              <a:rPr kumimoji="1" lang="en-US" altLang="zh-TW" dirty="0"/>
              <a:t>16</a:t>
            </a:r>
            <a:r>
              <a:rPr kumimoji="1" lang="en-US" altLang="zh-HK" dirty="0"/>
              <a:t>.</a:t>
            </a:r>
            <a:r>
              <a:rPr kumimoji="1" lang="en-US" altLang="zh-TW" dirty="0"/>
              <a:t>3</a:t>
            </a:r>
            <a:r>
              <a:rPr kumimoji="1" lang="en-US" altLang="zh-HK" dirty="0"/>
              <a:t>(</a:t>
            </a:r>
            <a:r>
              <a:rPr kumimoji="1" lang="en-US" altLang="zh-TW" dirty="0"/>
              <a:t>6</a:t>
            </a:r>
            <a:r>
              <a:rPr kumimoji="1" lang="en-US" altLang="zh-HK" dirty="0"/>
              <a:t>)</a:t>
            </a:r>
            <a:endParaRPr kumimoji="1" lang="zh-HK" altLang="en-US" dirty="0"/>
          </a:p>
        </p:txBody>
      </p:sp>
      <p:pic>
        <p:nvPicPr>
          <p:cNvPr id="4" name="圖片 3" descr="一張含有 文字 的圖片&#10;&#10;自動產生的描述">
            <a:extLst>
              <a:ext uri="{FF2B5EF4-FFF2-40B4-BE49-F238E27FC236}">
                <a16:creationId xmlns:a16="http://schemas.microsoft.com/office/drawing/2014/main" id="{E22F36FD-45B3-4513-9624-EA4AC82FE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61" y="504941"/>
            <a:ext cx="9444739" cy="624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029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5.5</a:t>
            </a:r>
            <a:r>
              <a:rPr kumimoji="1" lang="zh-TW" altLang="en-US" dirty="0"/>
              <a:t>分銷策略</a:t>
            </a:r>
            <a:r>
              <a:rPr kumimoji="1" lang="en-US" altLang="zh-HK" dirty="0"/>
              <a:t> – </a:t>
            </a:r>
            <a:r>
              <a:rPr kumimoji="1" lang="en-US" altLang="zh-TW" dirty="0"/>
              <a:t>16</a:t>
            </a:r>
            <a:r>
              <a:rPr kumimoji="1" lang="en-US" altLang="zh-HK" dirty="0"/>
              <a:t>.</a:t>
            </a:r>
            <a:r>
              <a:rPr kumimoji="1" lang="en-US" altLang="zh-TW" dirty="0"/>
              <a:t>3</a:t>
            </a:r>
            <a:r>
              <a:rPr kumimoji="1" lang="en-US" altLang="zh-HK" dirty="0"/>
              <a:t>(</a:t>
            </a:r>
            <a:r>
              <a:rPr kumimoji="1" lang="en-US" altLang="zh-TW" dirty="0"/>
              <a:t>6</a:t>
            </a:r>
            <a:r>
              <a:rPr kumimoji="1" lang="en-US" altLang="zh-HK" dirty="0"/>
              <a:t>)</a:t>
            </a:r>
            <a:endParaRPr kumimoji="1" lang="zh-HK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E069E3A-0F68-4BFF-97A1-20FB561673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87" y="995084"/>
            <a:ext cx="10355120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7151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595C02A-6AF2-484F-88D7-F29A29A5D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92" y="1018837"/>
            <a:ext cx="10679015" cy="4820323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2842043" y="3428998"/>
            <a:ext cx="1575790" cy="35777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38654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5.5</a:t>
            </a:r>
            <a:r>
              <a:rPr kumimoji="1" lang="zh-TW" altLang="en-US" dirty="0"/>
              <a:t>分銷策略</a:t>
            </a:r>
            <a:r>
              <a:rPr kumimoji="1" lang="en-US" altLang="zh-HK" dirty="0"/>
              <a:t> – </a:t>
            </a:r>
            <a:r>
              <a:rPr kumimoji="1" lang="en-US" altLang="zh-TW" dirty="0"/>
              <a:t>18</a:t>
            </a:r>
            <a:r>
              <a:rPr kumimoji="1" lang="en-US" altLang="zh-HK" dirty="0"/>
              <a:t>.</a:t>
            </a:r>
            <a:r>
              <a:rPr kumimoji="1" lang="en-US" altLang="zh-TW" dirty="0"/>
              <a:t>7b</a:t>
            </a:r>
            <a:r>
              <a:rPr kumimoji="1" lang="en-US" altLang="zh-HK" dirty="0"/>
              <a:t>(12)</a:t>
            </a:r>
            <a:endParaRPr kumimoji="1" lang="zh-HK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CC1D484-8194-6540-BCB3-E9F92FBD806A}"/>
              </a:ext>
            </a:extLst>
          </p:cNvPr>
          <p:cNvSpPr txBox="1"/>
          <p:nvPr/>
        </p:nvSpPr>
        <p:spPr>
          <a:xfrm>
            <a:off x="10359447" y="3239080"/>
            <a:ext cx="18325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HK" altLang="en-US" sz="3200" dirty="0"/>
              <a:t>（</a:t>
            </a:r>
            <a:r>
              <a:rPr kumimoji="1" lang="en-US" altLang="zh-HK" sz="3200" dirty="0"/>
              <a:t>12</a:t>
            </a:r>
            <a:r>
              <a:rPr kumimoji="1" lang="zh-HK" altLang="en-US" sz="3200" dirty="0"/>
              <a:t>分）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076B314-E731-4CB8-B34B-05CE2F6EF3FC}"/>
              </a:ext>
            </a:extLst>
          </p:cNvPr>
          <p:cNvSpPr txBox="1"/>
          <p:nvPr/>
        </p:nvSpPr>
        <p:spPr>
          <a:xfrm>
            <a:off x="136187" y="1146199"/>
            <a:ext cx="1191962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sz="2800" b="0" i="0" dirty="0">
                <a:effectLst/>
                <a:latin typeface="quote-cjk-patch"/>
              </a:rPr>
              <a:t>一家以銷售單車為業務的新成立公司，正考慮以經濟訂購量模式找出單車的最佳訂購量，從而達至最低的總存貨成本。公司亦計劃透過中間人將單車分銷予顧客。</a:t>
            </a:r>
            <a:endParaRPr lang="en-US" altLang="zh-TW" sz="2800" b="0" i="0" dirty="0">
              <a:effectLst/>
              <a:latin typeface="quote-cjk-patch"/>
            </a:endParaRPr>
          </a:p>
          <a:p>
            <a:pPr algn="l"/>
            <a:endParaRPr lang="zh-TW" altLang="en-US" sz="2800" b="0" i="0" dirty="0">
              <a:effectLst/>
              <a:latin typeface="quote-cjk-patch"/>
            </a:endParaRPr>
          </a:p>
          <a:p>
            <a:pPr algn="l"/>
            <a:r>
              <a:rPr lang="zh-TW" altLang="en-US" sz="2800" b="0" i="0" dirty="0">
                <a:effectLst/>
                <a:latin typeface="quote-cjk-patch"/>
              </a:rPr>
              <a:t>解釋公司決定是否透過中間人分銷單車予顧客時應考慮的因素。</a:t>
            </a:r>
          </a:p>
          <a:p>
            <a:br>
              <a:rPr lang="zh-TW" altLang="en-US" sz="2800" dirty="0"/>
            </a:br>
            <a:endParaRPr lang="zh-HK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9688688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5.5</a:t>
            </a:r>
            <a:r>
              <a:rPr kumimoji="1" lang="zh-TW" altLang="en-US" dirty="0"/>
              <a:t>分銷策略</a:t>
            </a:r>
            <a:r>
              <a:rPr kumimoji="1" lang="en-US" altLang="zh-HK" dirty="0"/>
              <a:t> – </a:t>
            </a:r>
            <a:r>
              <a:rPr kumimoji="1" lang="en-US" altLang="zh-TW" dirty="0"/>
              <a:t>18</a:t>
            </a:r>
            <a:r>
              <a:rPr kumimoji="1" lang="en-US" altLang="zh-HK" dirty="0"/>
              <a:t>.</a:t>
            </a:r>
            <a:r>
              <a:rPr kumimoji="1" lang="en-US" altLang="zh-TW" dirty="0"/>
              <a:t>7b</a:t>
            </a:r>
            <a:r>
              <a:rPr kumimoji="1" lang="en-US" altLang="zh-HK" dirty="0"/>
              <a:t>(12)</a:t>
            </a:r>
            <a:endParaRPr kumimoji="1" lang="zh-HK" altLang="en-US" dirty="0"/>
          </a:p>
        </p:txBody>
      </p:sp>
      <p:pic>
        <p:nvPicPr>
          <p:cNvPr id="3" name="圖片 2" descr="一張含有 文字, 收據 的圖片&#10;&#10;自動產生的描述">
            <a:extLst>
              <a:ext uri="{FF2B5EF4-FFF2-40B4-BE49-F238E27FC236}">
                <a16:creationId xmlns:a16="http://schemas.microsoft.com/office/drawing/2014/main" id="{EC50C3E7-DFD3-9D42-BF90-465A4AEA9E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81" y="1310162"/>
            <a:ext cx="11863437" cy="323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2879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5.5</a:t>
            </a:r>
            <a:r>
              <a:rPr kumimoji="1" lang="zh-TW" altLang="en-US" dirty="0"/>
              <a:t>分銷策略</a:t>
            </a:r>
            <a:r>
              <a:rPr kumimoji="1" lang="en-US" altLang="zh-HK" dirty="0"/>
              <a:t> – </a:t>
            </a:r>
            <a:r>
              <a:rPr kumimoji="1" lang="en-US" altLang="zh-TW" dirty="0"/>
              <a:t>18</a:t>
            </a:r>
            <a:r>
              <a:rPr kumimoji="1" lang="en-US" altLang="zh-HK" dirty="0"/>
              <a:t>.</a:t>
            </a:r>
            <a:r>
              <a:rPr kumimoji="1" lang="en-US" altLang="zh-TW" dirty="0"/>
              <a:t>7b</a:t>
            </a:r>
            <a:r>
              <a:rPr kumimoji="1" lang="en-US" altLang="zh-HK" dirty="0"/>
              <a:t>(12)</a:t>
            </a:r>
            <a:endParaRPr kumimoji="1" lang="zh-HK" altLang="en-US" dirty="0"/>
          </a:p>
        </p:txBody>
      </p:sp>
      <p:pic>
        <p:nvPicPr>
          <p:cNvPr id="5" name="圖片 4" descr="一張含有 箭 的圖片&#10;&#10;自動產生的描述">
            <a:extLst>
              <a:ext uri="{FF2B5EF4-FFF2-40B4-BE49-F238E27FC236}">
                <a16:creationId xmlns:a16="http://schemas.microsoft.com/office/drawing/2014/main" id="{AC754F83-2E5A-AD4D-80D8-8E58E5D19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1" y="617518"/>
            <a:ext cx="8658406" cy="2377831"/>
          </a:xfrm>
          <a:prstGeom prst="rect">
            <a:avLst/>
          </a:prstGeom>
        </p:spPr>
      </p:pic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id="{BDD8F1BD-BB0A-144F-BAC9-2A473E9F2C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0" y="3037867"/>
            <a:ext cx="8658405" cy="294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9829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5.5</a:t>
            </a:r>
            <a:r>
              <a:rPr kumimoji="1" lang="zh-TW" altLang="en-US" dirty="0"/>
              <a:t>分銷策略</a:t>
            </a:r>
            <a:r>
              <a:rPr kumimoji="1" lang="en-US" altLang="zh-HK" dirty="0"/>
              <a:t> – </a:t>
            </a:r>
            <a:r>
              <a:rPr kumimoji="1" lang="en-US" altLang="zh-TW" dirty="0"/>
              <a:t>18</a:t>
            </a:r>
            <a:r>
              <a:rPr kumimoji="1" lang="en-US" altLang="zh-HK" dirty="0"/>
              <a:t>.</a:t>
            </a:r>
            <a:r>
              <a:rPr kumimoji="1" lang="en-US" altLang="zh-TW" dirty="0"/>
              <a:t>7b</a:t>
            </a:r>
            <a:r>
              <a:rPr kumimoji="1" lang="en-US" altLang="zh-HK" dirty="0"/>
              <a:t>(12)</a:t>
            </a:r>
            <a:endParaRPr kumimoji="1" lang="zh-HK" altLang="en-US" dirty="0"/>
          </a:p>
        </p:txBody>
      </p:sp>
      <p:pic>
        <p:nvPicPr>
          <p:cNvPr id="5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030D508E-D503-BC44-8808-BE64CE5A5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507" y="867508"/>
            <a:ext cx="8221781" cy="1541584"/>
          </a:xfrm>
          <a:prstGeom prst="rect">
            <a:avLst/>
          </a:prstGeom>
        </p:spPr>
      </p:pic>
      <p:pic>
        <p:nvPicPr>
          <p:cNvPr id="7" name="圖片 6" descr="一張含有 文字 的圖片&#10;&#10;自動產生的描述">
            <a:extLst>
              <a:ext uri="{FF2B5EF4-FFF2-40B4-BE49-F238E27FC236}">
                <a16:creationId xmlns:a16="http://schemas.microsoft.com/office/drawing/2014/main" id="{8CEA6A15-11FB-3948-BE1C-8DA6A190BF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507" y="2409092"/>
            <a:ext cx="8116530" cy="1776046"/>
          </a:xfrm>
          <a:prstGeom prst="rect">
            <a:avLst/>
          </a:prstGeom>
        </p:spPr>
      </p:pic>
      <p:pic>
        <p:nvPicPr>
          <p:cNvPr id="9" name="圖片 8" descr="一張含有 文字 的圖片&#10;&#10;自動產生的描述">
            <a:extLst>
              <a:ext uri="{FF2B5EF4-FFF2-40B4-BE49-F238E27FC236}">
                <a16:creationId xmlns:a16="http://schemas.microsoft.com/office/drawing/2014/main" id="{047A09A8-EC42-7D44-9A12-2F7AC0D850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507" y="4185138"/>
            <a:ext cx="817245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68995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595C02A-6AF2-484F-88D7-F29A29A5D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92" y="1018837"/>
            <a:ext cx="10679015" cy="4820323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2831883" y="4292598"/>
            <a:ext cx="1575790" cy="35777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81518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5.5</a:t>
            </a:r>
            <a:r>
              <a:rPr kumimoji="1" lang="zh-TW" altLang="en-US" dirty="0"/>
              <a:t> 分銷策略</a:t>
            </a:r>
            <a:r>
              <a:rPr kumimoji="1" lang="en-US" altLang="zh-HK" dirty="0"/>
              <a:t> – </a:t>
            </a:r>
            <a:r>
              <a:rPr kumimoji="1" lang="en-US" altLang="zh-TW" dirty="0"/>
              <a:t>21</a:t>
            </a:r>
            <a:r>
              <a:rPr kumimoji="1" lang="en-US" altLang="zh-HK" dirty="0"/>
              <a:t>.8a(12)</a:t>
            </a:r>
            <a:endParaRPr kumimoji="1"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4C8A111-8991-4992-B71A-3D496B5DFD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3947" y="989838"/>
            <a:ext cx="11537673" cy="215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4872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5.5</a:t>
            </a:r>
            <a:r>
              <a:rPr kumimoji="1" lang="zh-TW" altLang="en-US" dirty="0"/>
              <a:t> 分銷策略</a:t>
            </a:r>
            <a:r>
              <a:rPr kumimoji="1" lang="en-US" altLang="zh-HK" dirty="0"/>
              <a:t> – </a:t>
            </a:r>
            <a:r>
              <a:rPr kumimoji="1" lang="en-US" altLang="zh-TW" dirty="0"/>
              <a:t>21</a:t>
            </a:r>
            <a:r>
              <a:rPr kumimoji="1" lang="en-US" altLang="zh-HK" dirty="0"/>
              <a:t>.8a(12)</a:t>
            </a:r>
            <a:endParaRPr kumimoji="1" lang="zh-HK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92F2716-513D-4000-9BF3-FC21BDFF5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3545" y="704470"/>
            <a:ext cx="10424909" cy="5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25553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0EE6D0-1005-488D-9732-F8CD00C44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A422B6-BBE6-4DCF-BEB6-F70F26133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HK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8C62615-64D3-4635-B046-7099ECDBA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79" y="1971471"/>
            <a:ext cx="10717121" cy="2915057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A56E2BA2-271E-4ADF-A845-761343DEBB35}"/>
              </a:ext>
            </a:extLst>
          </p:cNvPr>
          <p:cNvSpPr txBox="1">
            <a:spLocks/>
          </p:cNvSpPr>
          <p:nvPr/>
        </p:nvSpPr>
        <p:spPr>
          <a:xfrm>
            <a:off x="0" y="18256"/>
            <a:ext cx="10515600" cy="5992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TW"/>
              <a:t>5.5</a:t>
            </a:r>
            <a:r>
              <a:rPr kumimoji="1" lang="zh-TW" altLang="en-US"/>
              <a:t> 分銷策略</a:t>
            </a:r>
            <a:r>
              <a:rPr kumimoji="1" lang="en-US" altLang="zh-HK"/>
              <a:t> – </a:t>
            </a:r>
            <a:r>
              <a:rPr kumimoji="1" lang="en-US" altLang="zh-TW"/>
              <a:t>21</a:t>
            </a:r>
            <a:r>
              <a:rPr kumimoji="1" lang="en-US" altLang="zh-HK"/>
              <a:t>.8a(12)</a:t>
            </a:r>
            <a:endParaRPr kumimoji="1"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08384002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595C02A-6AF2-484F-88D7-F29A29A5D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92" y="1018837"/>
            <a:ext cx="10679015" cy="4820323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2842043" y="4963158"/>
            <a:ext cx="1575790" cy="35777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169116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9E4C7867-BA39-4F75-9F5D-51FD444D8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5.5</a:t>
            </a:r>
            <a:r>
              <a:rPr kumimoji="1" lang="zh-TW" altLang="en-US" dirty="0"/>
              <a:t> 分銷策略</a:t>
            </a:r>
            <a:r>
              <a:rPr kumimoji="1" lang="en-US" altLang="zh-HK" dirty="0"/>
              <a:t> – </a:t>
            </a:r>
            <a:r>
              <a:rPr kumimoji="1" lang="en-US" altLang="zh-TW" dirty="0"/>
              <a:t>23</a:t>
            </a:r>
            <a:r>
              <a:rPr kumimoji="1" lang="en-US" altLang="zh-HK" dirty="0"/>
              <a:t>.8a(8)</a:t>
            </a:r>
            <a:endParaRPr kumimoji="1" lang="zh-HK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AE16DFE-7322-4CB0-B91A-7ED8BE781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6904" y="617518"/>
            <a:ext cx="11101495" cy="189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7491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9E4C7867-BA39-4F75-9F5D-51FD444D8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5.5</a:t>
            </a:r>
            <a:r>
              <a:rPr kumimoji="1" lang="zh-TW" altLang="en-US" dirty="0"/>
              <a:t> 分銷策略</a:t>
            </a:r>
            <a:r>
              <a:rPr kumimoji="1" lang="en-US" altLang="zh-HK" dirty="0"/>
              <a:t> – </a:t>
            </a:r>
            <a:r>
              <a:rPr kumimoji="1" lang="en-US" altLang="zh-TW" dirty="0"/>
              <a:t>23</a:t>
            </a:r>
            <a:r>
              <a:rPr kumimoji="1" lang="en-US" altLang="zh-HK" dirty="0"/>
              <a:t>.8a(8)</a:t>
            </a:r>
            <a:endParaRPr kumimoji="1" lang="zh-HK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859570E-5EBF-436E-BCD1-FC276A3CE4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6657" y="792884"/>
            <a:ext cx="8578143" cy="575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24970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6C98BC09-E83C-46A7-8FF7-9A77EC59A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5.5</a:t>
            </a:r>
            <a:r>
              <a:rPr kumimoji="1" lang="zh-TW" altLang="en-US" dirty="0"/>
              <a:t> 分銷策略</a:t>
            </a:r>
            <a:r>
              <a:rPr kumimoji="1" lang="en-US" altLang="zh-HK" dirty="0"/>
              <a:t> – </a:t>
            </a:r>
            <a:r>
              <a:rPr kumimoji="1" lang="en-US" altLang="zh-TW" dirty="0"/>
              <a:t>23</a:t>
            </a:r>
            <a:r>
              <a:rPr kumimoji="1" lang="en-US" altLang="zh-HK" dirty="0"/>
              <a:t>.8a(8)</a:t>
            </a:r>
            <a:endParaRPr kumimoji="1" lang="zh-HK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E411928-B6A4-4B32-A659-25E1C355A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55" y="1009312"/>
            <a:ext cx="10850489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23484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595C02A-6AF2-484F-88D7-F29A29A5D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92" y="1018837"/>
            <a:ext cx="10679015" cy="4820323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2811563" y="5481388"/>
            <a:ext cx="1575790" cy="35777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6835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6C98BC09-E83C-46A7-8FF7-9A77EC59A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5.5</a:t>
            </a:r>
            <a:r>
              <a:rPr kumimoji="1" lang="zh-TW" altLang="en-US" dirty="0"/>
              <a:t> 分銷策略</a:t>
            </a:r>
            <a:r>
              <a:rPr kumimoji="1" lang="en-US" altLang="zh-HK" dirty="0"/>
              <a:t> – </a:t>
            </a:r>
            <a:r>
              <a:rPr kumimoji="1" lang="en-US" altLang="zh-TW" dirty="0"/>
              <a:t>25</a:t>
            </a:r>
            <a:r>
              <a:rPr kumimoji="1" lang="en-US" altLang="zh-HK" dirty="0"/>
              <a:t>.6c(4)</a:t>
            </a:r>
            <a:endParaRPr kumimoji="1" lang="zh-HK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5914D28-A6B1-4D96-9E6D-1D11BA60D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47" y="4798897"/>
            <a:ext cx="12007174" cy="9321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A85C3F25-5153-415F-909D-E807774F2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47" y="740372"/>
            <a:ext cx="11819106" cy="93693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1656BFE-181A-4CBE-AFA6-23E68B2BB3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447" y="1834205"/>
            <a:ext cx="11913140" cy="86875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3145EDC0-E6DB-4185-A402-215F51C9F0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34" y="3145681"/>
            <a:ext cx="12005553" cy="99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100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6C98BC09-E83C-46A7-8FF7-9A77EC59A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5.5</a:t>
            </a:r>
            <a:r>
              <a:rPr kumimoji="1" lang="zh-TW" altLang="en-US" dirty="0"/>
              <a:t> 分銷策略</a:t>
            </a:r>
            <a:r>
              <a:rPr kumimoji="1" lang="en-US" altLang="zh-HK" dirty="0"/>
              <a:t> – </a:t>
            </a:r>
            <a:r>
              <a:rPr kumimoji="1" lang="en-US" altLang="zh-TW" dirty="0"/>
              <a:t>25</a:t>
            </a:r>
            <a:r>
              <a:rPr kumimoji="1" lang="en-US" altLang="zh-HK" dirty="0"/>
              <a:t>.6c(4)</a:t>
            </a:r>
            <a:endParaRPr kumimoji="1" lang="zh-HK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DC601D6-C619-436C-A108-009E1565AC07}"/>
              </a:ext>
            </a:extLst>
          </p:cNvPr>
          <p:cNvSpPr txBox="1"/>
          <p:nvPr/>
        </p:nvSpPr>
        <p:spPr>
          <a:xfrm>
            <a:off x="502444" y="920621"/>
            <a:ext cx="11346656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sz="2800" b="1" i="0" dirty="0">
                <a:effectLst/>
                <a:latin typeface="quote-cjk-patch"/>
              </a:rPr>
              <a:t>建議答案</a:t>
            </a:r>
            <a:endParaRPr lang="zh-TW" altLang="en-US" sz="2800" b="0" i="0" dirty="0">
              <a:effectLst/>
              <a:latin typeface="quote-cjk-patch"/>
            </a:endParaRPr>
          </a:p>
          <a:p>
            <a:pPr algn="l"/>
            <a:r>
              <a:rPr lang="zh-TW" altLang="en-US" sz="2800" b="1" i="0" dirty="0">
                <a:effectLst/>
                <a:latin typeface="quote-cjk-patch"/>
              </a:rPr>
              <a:t>因素：</a:t>
            </a:r>
            <a:endParaRPr lang="zh-TW" altLang="en-US" sz="2800" b="0" i="0" dirty="0">
              <a:effectLst/>
              <a:latin typeface="quote-cjk-patch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TW" altLang="en-US" sz="2800" b="1" i="0" dirty="0">
                <a:effectLst/>
                <a:latin typeface="quote-cjk-patch"/>
              </a:rPr>
              <a:t>客戶基礎與分銷網絡：</a:t>
            </a:r>
            <a:r>
              <a:rPr lang="zh-TW" altLang="en-US" sz="2800" b="0" i="0" dirty="0">
                <a:effectLst/>
                <a:latin typeface="quote-cjk-patch"/>
              </a:rPr>
              <a:t>例如，由於百貨公司擁有更廣泛的客戶基礎，且在不同地區設有多間分店，因此能更快地擴展業務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TW" altLang="en-US" sz="2800" b="1" i="0" dirty="0">
                <a:effectLst/>
                <a:latin typeface="quote-cjk-patch"/>
              </a:rPr>
              <a:t>銷售控制：</a:t>
            </a:r>
            <a:r>
              <a:rPr lang="zh-TW" altLang="en-US" sz="2800" b="0" i="0" dirty="0">
                <a:effectLst/>
                <a:latin typeface="quote-cjk-patch"/>
              </a:rPr>
              <a:t>例如，</a:t>
            </a:r>
            <a:r>
              <a:rPr lang="en-US" altLang="zh-TW" sz="2800" b="0" i="0" dirty="0">
                <a:effectLst/>
                <a:latin typeface="quote-cjk-patch"/>
              </a:rPr>
              <a:t>Emily Limited </a:t>
            </a:r>
            <a:r>
              <a:rPr lang="zh-TW" altLang="en-US" sz="2800" b="0" i="0" dirty="0">
                <a:effectLst/>
                <a:latin typeface="quote-cjk-patch"/>
              </a:rPr>
              <a:t>是否希望在手袋及其他配件的銷售與推廣上擁有較大的控制權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TW" altLang="en-US" sz="2800" b="1" i="0" dirty="0">
                <a:effectLst/>
                <a:latin typeface="quote-cjk-patch"/>
              </a:rPr>
              <a:t>客戶關係：</a:t>
            </a:r>
            <a:r>
              <a:rPr lang="zh-TW" altLang="en-US" sz="2800" b="0" i="0" dirty="0">
                <a:effectLst/>
                <a:latin typeface="quote-cjk-patch"/>
              </a:rPr>
              <a:t>例如，</a:t>
            </a:r>
            <a:r>
              <a:rPr lang="en-US" altLang="zh-TW" sz="2800" b="0" i="0" dirty="0">
                <a:effectLst/>
                <a:latin typeface="quote-cjk-patch"/>
              </a:rPr>
              <a:t>Emily Limited </a:t>
            </a:r>
            <a:r>
              <a:rPr lang="zh-TW" altLang="en-US" sz="2800" b="0" i="0" dirty="0">
                <a:effectLst/>
                <a:latin typeface="quote-cjk-patch"/>
              </a:rPr>
              <a:t>是否希望直接接觸客戶、直接收集客戶意見，以及進行交叉銷售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zh-TW" altLang="en-US" sz="2800" b="1" i="0" dirty="0">
                <a:effectLst/>
                <a:latin typeface="quote-cjk-patch"/>
              </a:rPr>
              <a:t>專業知識的可用性：</a:t>
            </a:r>
            <a:r>
              <a:rPr lang="zh-TW" altLang="en-US" sz="2800" b="0" i="0" dirty="0">
                <a:effectLst/>
                <a:latin typeface="quote-cjk-patch"/>
              </a:rPr>
              <a:t>例如，</a:t>
            </a:r>
            <a:r>
              <a:rPr lang="en-US" altLang="zh-TW" sz="2800" b="0" i="0" dirty="0">
                <a:effectLst/>
                <a:latin typeface="quote-cjk-patch"/>
              </a:rPr>
              <a:t>Emily Limited </a:t>
            </a:r>
            <a:r>
              <a:rPr lang="zh-TW" altLang="en-US" sz="2800" b="0" i="0" dirty="0">
                <a:effectLst/>
                <a:latin typeface="quote-cjk-patch"/>
              </a:rPr>
              <a:t>是否擁有經驗豐富的銷售人員，能夠向客戶銷售及講解手袋的特點</a:t>
            </a:r>
          </a:p>
          <a:p>
            <a:pPr algn="l"/>
            <a:r>
              <a:rPr lang="zh-TW" altLang="en-US" sz="2800" b="0" i="0" dirty="0">
                <a:effectLst/>
                <a:latin typeface="quote-cjk-patch"/>
              </a:rPr>
              <a:t>（每個因素 </a:t>
            </a:r>
            <a:r>
              <a:rPr lang="en-US" altLang="zh-TW" sz="2800" b="0" i="0" dirty="0">
                <a:effectLst/>
                <a:latin typeface="quote-cjk-patch"/>
              </a:rPr>
              <a:t>2 </a:t>
            </a:r>
            <a:r>
              <a:rPr lang="zh-TW" altLang="en-US" sz="2800" b="0" i="0" dirty="0">
                <a:effectLst/>
                <a:latin typeface="quote-cjk-patch"/>
              </a:rPr>
              <a:t>分，最高 </a:t>
            </a:r>
            <a:r>
              <a:rPr lang="en-US" altLang="zh-TW" sz="2800" b="0" i="0" dirty="0">
                <a:effectLst/>
                <a:latin typeface="quote-cjk-patch"/>
              </a:rPr>
              <a:t>4 </a:t>
            </a:r>
            <a:r>
              <a:rPr lang="zh-TW" altLang="en-US" sz="2800" b="0" i="0" dirty="0">
                <a:effectLst/>
                <a:latin typeface="quote-cjk-patch"/>
              </a:rPr>
              <a:t>分）</a:t>
            </a:r>
            <a:br>
              <a:rPr lang="zh-TW" altLang="en-US" sz="2800" b="0" i="0" dirty="0">
                <a:effectLst/>
                <a:latin typeface="quote-cjk-patch"/>
              </a:rPr>
            </a:br>
            <a:r>
              <a:rPr lang="zh-TW" altLang="en-US" sz="2800" b="0" i="1" dirty="0">
                <a:effectLst/>
                <a:latin typeface="quote-cjk-patch"/>
              </a:rPr>
              <a:t>答案內容必須與情景相關。例如，必須提及「開設自己的零售店」、「銷售專櫃」、「手袋」及「配件」等關鍵字，方可獲得 </a:t>
            </a:r>
            <a:r>
              <a:rPr lang="en-US" altLang="zh-TW" sz="2800" b="0" i="1" dirty="0">
                <a:effectLst/>
                <a:latin typeface="quote-cjk-patch"/>
              </a:rPr>
              <a:t>2 </a:t>
            </a:r>
            <a:r>
              <a:rPr lang="zh-TW" altLang="en-US" sz="2800" b="0" i="1" dirty="0">
                <a:effectLst/>
                <a:latin typeface="quote-cjk-patch"/>
              </a:rPr>
              <a:t>分。</a:t>
            </a:r>
            <a:endParaRPr lang="zh-TW" altLang="en-US" sz="2800" b="0" i="0" dirty="0"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28600654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6C98BC09-E83C-46A7-8FF7-9A77EC59A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5.5</a:t>
            </a:r>
            <a:r>
              <a:rPr kumimoji="1" lang="zh-TW" altLang="en-US" dirty="0"/>
              <a:t> 分銷策略</a:t>
            </a:r>
            <a:r>
              <a:rPr kumimoji="1" lang="en-US" altLang="zh-HK" dirty="0"/>
              <a:t> – </a:t>
            </a:r>
            <a:r>
              <a:rPr kumimoji="1" lang="en-US" altLang="zh-TW" dirty="0"/>
              <a:t>25</a:t>
            </a:r>
            <a:r>
              <a:rPr kumimoji="1" lang="en-US" altLang="zh-HK" dirty="0"/>
              <a:t>.6c(4)</a:t>
            </a:r>
            <a:endParaRPr kumimoji="1" lang="zh-HK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40E3659-5596-47C7-8370-89C0B7059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92" y="2836359"/>
            <a:ext cx="9662302" cy="363693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6C6230D2-4121-43AE-8FD8-790F78D98DF0}"/>
              </a:ext>
            </a:extLst>
          </p:cNvPr>
          <p:cNvSpPr txBox="1"/>
          <p:nvPr/>
        </p:nvSpPr>
        <p:spPr>
          <a:xfrm>
            <a:off x="531018" y="942108"/>
            <a:ext cx="105155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i="0" dirty="0">
                <a:effectLst/>
                <a:latin typeface="quote-cjk-patch"/>
              </a:rPr>
              <a:t>考生常見錯誤：</a:t>
            </a:r>
            <a:br>
              <a:rPr lang="zh-TW" altLang="en-US" sz="3200" dirty="0"/>
            </a:br>
            <a:r>
              <a:rPr lang="en-US" altLang="zh-TW" sz="3200" b="0" i="0" dirty="0">
                <a:effectLst/>
                <a:latin typeface="quote-cjk-patch"/>
              </a:rPr>
              <a:t>• </a:t>
            </a:r>
            <a:r>
              <a:rPr lang="zh-TW" altLang="en-US" sz="3200" b="0" i="0" dirty="0">
                <a:effectLst/>
                <a:latin typeface="quote-cjk-patch"/>
              </a:rPr>
              <a:t>加入了外在因素，或錯誤地將情況與網上商店作比較。</a:t>
            </a:r>
            <a:br>
              <a:rPr lang="zh-TW" altLang="en-US" sz="3200" dirty="0"/>
            </a:br>
            <a:r>
              <a:rPr lang="en-US" altLang="zh-TW" sz="3200" b="0" i="0" dirty="0">
                <a:effectLst/>
                <a:latin typeface="quote-cjk-patch"/>
              </a:rPr>
              <a:t>• </a:t>
            </a:r>
            <a:r>
              <a:rPr lang="zh-TW" altLang="en-US" sz="3200" b="0" i="0" dirty="0">
                <a:effectLst/>
                <a:latin typeface="quote-cjk-patch"/>
              </a:rPr>
              <a:t>在闡述中未有提及「手袋」（最高扣</a:t>
            </a:r>
            <a:r>
              <a:rPr lang="en-US" altLang="zh-TW" sz="3200" b="0" i="0" dirty="0">
                <a:effectLst/>
                <a:latin typeface="quote-cjk-patch"/>
              </a:rPr>
              <a:t>1</a:t>
            </a:r>
            <a:r>
              <a:rPr lang="zh-TW" altLang="en-US" sz="3200" b="0" i="0" dirty="0">
                <a:effectLst/>
                <a:latin typeface="quote-cjk-patch"/>
              </a:rPr>
              <a:t>分）。</a:t>
            </a:r>
            <a:endParaRPr lang="zh-HK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83181498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849F5B-1039-4A73-AB18-423180E446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HK" dirty="0"/>
              <a:t>Promotion</a:t>
            </a:r>
            <a:endParaRPr lang="zh-HK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9BC7685-5195-4BCF-87E9-46F20EDE8F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58889427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595C02A-6AF2-484F-88D7-F29A29A5D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92" y="1018837"/>
            <a:ext cx="10679015" cy="4820323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7164488" y="1919038"/>
            <a:ext cx="1575790" cy="35777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643015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5.6</a:t>
            </a:r>
            <a:r>
              <a:rPr kumimoji="1" lang="zh-TW" altLang="en-US" dirty="0"/>
              <a:t>推廣策略</a:t>
            </a:r>
            <a:r>
              <a:rPr kumimoji="1" lang="en-US" altLang="zh-HK" dirty="0"/>
              <a:t> – </a:t>
            </a:r>
            <a:r>
              <a:rPr kumimoji="1" lang="en-US" altLang="zh-TW" dirty="0"/>
              <a:t>13</a:t>
            </a:r>
            <a:r>
              <a:rPr kumimoji="1" lang="en-US" altLang="zh-HK" dirty="0"/>
              <a:t>.</a:t>
            </a:r>
            <a:r>
              <a:rPr kumimoji="1" lang="en-US" altLang="zh-TW" dirty="0"/>
              <a:t>7e</a:t>
            </a:r>
            <a:r>
              <a:rPr kumimoji="1" lang="en-US" altLang="zh-HK" dirty="0"/>
              <a:t>(6)</a:t>
            </a:r>
            <a:endParaRPr kumimoji="1" lang="zh-HK" altLang="en-US" dirty="0"/>
          </a:p>
        </p:txBody>
      </p:sp>
      <p:pic>
        <p:nvPicPr>
          <p:cNvPr id="4" name="圖片 3" descr="一張含有 文字, 收據 的圖片&#10;&#10;自動產生的描述">
            <a:extLst>
              <a:ext uri="{FF2B5EF4-FFF2-40B4-BE49-F238E27FC236}">
                <a16:creationId xmlns:a16="http://schemas.microsoft.com/office/drawing/2014/main" id="{113844F1-B01D-4E87-A995-7504284598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9000" contrast="9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6146"/>
          <a:stretch/>
        </p:blipFill>
        <p:spPr>
          <a:xfrm>
            <a:off x="554515" y="719037"/>
            <a:ext cx="9406569" cy="4853367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F2C85ED9-EE02-4B28-AC7D-6E199D5380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462" y="5673924"/>
            <a:ext cx="11317075" cy="9496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3721445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5.6</a:t>
            </a:r>
            <a:r>
              <a:rPr kumimoji="1" lang="zh-TW" altLang="en-US" dirty="0"/>
              <a:t>推廣策略</a:t>
            </a:r>
            <a:r>
              <a:rPr kumimoji="1" lang="en-US" altLang="zh-HK" dirty="0"/>
              <a:t> – </a:t>
            </a:r>
            <a:r>
              <a:rPr kumimoji="1" lang="en-US" altLang="zh-TW" dirty="0"/>
              <a:t>13</a:t>
            </a:r>
            <a:r>
              <a:rPr kumimoji="1" lang="en-US" altLang="zh-HK" dirty="0"/>
              <a:t>.</a:t>
            </a:r>
            <a:r>
              <a:rPr kumimoji="1" lang="en-US" altLang="zh-TW" dirty="0"/>
              <a:t>7e</a:t>
            </a:r>
            <a:r>
              <a:rPr kumimoji="1" lang="en-US" altLang="zh-HK" dirty="0"/>
              <a:t>(6)</a:t>
            </a:r>
            <a:endParaRPr kumimoji="1"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0D80A24-F2A8-4DAA-AF34-246C3E766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9000" contrast="8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293" y="1009403"/>
            <a:ext cx="9746619" cy="198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63343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5.6</a:t>
            </a:r>
            <a:r>
              <a:rPr kumimoji="1" lang="zh-TW" altLang="en-US" dirty="0"/>
              <a:t>推廣策略</a:t>
            </a:r>
            <a:r>
              <a:rPr kumimoji="1" lang="en-US" altLang="zh-HK" dirty="0"/>
              <a:t> – </a:t>
            </a:r>
            <a:r>
              <a:rPr kumimoji="1" lang="en-US" altLang="zh-TW" dirty="0"/>
              <a:t>13</a:t>
            </a:r>
            <a:r>
              <a:rPr kumimoji="1" lang="en-US" altLang="zh-HK" dirty="0"/>
              <a:t>.</a:t>
            </a:r>
            <a:r>
              <a:rPr kumimoji="1" lang="en-US" altLang="zh-TW" dirty="0"/>
              <a:t>7e</a:t>
            </a:r>
            <a:r>
              <a:rPr kumimoji="1" lang="en-US" altLang="zh-HK" dirty="0"/>
              <a:t>(6)</a:t>
            </a:r>
            <a:endParaRPr kumimoji="1"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81DC87A-86EC-49AC-A0F0-30FC0AB8B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04" y="513465"/>
            <a:ext cx="9078592" cy="634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13538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595C02A-6AF2-484F-88D7-F29A29A5D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92" y="1018837"/>
            <a:ext cx="10679015" cy="4820323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7193063" y="2528638"/>
            <a:ext cx="1575790" cy="35777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801390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5.6</a:t>
            </a:r>
            <a:r>
              <a:rPr kumimoji="1" lang="zh-TW" altLang="en-US" dirty="0"/>
              <a:t>推廣策略</a:t>
            </a:r>
            <a:r>
              <a:rPr kumimoji="1" lang="en-US" altLang="zh-HK" dirty="0"/>
              <a:t>– </a:t>
            </a:r>
            <a:r>
              <a:rPr kumimoji="1" lang="en-US" altLang="zh-TW" dirty="0"/>
              <a:t>15</a:t>
            </a:r>
            <a:r>
              <a:rPr kumimoji="1" lang="en-US" altLang="zh-HK" dirty="0"/>
              <a:t>.</a:t>
            </a:r>
            <a:r>
              <a:rPr kumimoji="1" lang="en-US" altLang="zh-TW" dirty="0"/>
              <a:t>6b</a:t>
            </a:r>
            <a:r>
              <a:rPr kumimoji="1" lang="en-US" altLang="zh-HK" dirty="0"/>
              <a:t>(6)</a:t>
            </a:r>
            <a:endParaRPr kumimoji="1" lang="zh-HK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2BFB35A-5C65-400B-AE23-A7750DBF60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1000" contrast="7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56" y="4883544"/>
            <a:ext cx="11036053" cy="9729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0" name="群組 9">
            <a:extLst>
              <a:ext uri="{FF2B5EF4-FFF2-40B4-BE49-F238E27FC236}">
                <a16:creationId xmlns:a16="http://schemas.microsoft.com/office/drawing/2014/main" id="{98E254CB-263F-4E35-B935-1E76E116CA1A}"/>
              </a:ext>
            </a:extLst>
          </p:cNvPr>
          <p:cNvGrpSpPr/>
          <p:nvPr/>
        </p:nvGrpSpPr>
        <p:grpSpPr>
          <a:xfrm>
            <a:off x="623298" y="1100423"/>
            <a:ext cx="11055711" cy="3108019"/>
            <a:chOff x="775698" y="769918"/>
            <a:chExt cx="8584202" cy="2413220"/>
          </a:xfrm>
        </p:grpSpPr>
        <p:pic>
          <p:nvPicPr>
            <p:cNvPr id="4" name="圖片 3" descr="一張含有 文字, 螢幕擷取畫面, 收據 的圖片&#10;&#10;自動產生的描述">
              <a:extLst>
                <a:ext uri="{FF2B5EF4-FFF2-40B4-BE49-F238E27FC236}">
                  <a16:creationId xmlns:a16="http://schemas.microsoft.com/office/drawing/2014/main" id="{D6EE2108-244D-4622-9422-289D4C3202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45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610" b="22534"/>
            <a:stretch/>
          </p:blipFill>
          <p:spPr>
            <a:xfrm>
              <a:off x="775698" y="1671838"/>
              <a:ext cx="8430802" cy="1511300"/>
            </a:xfrm>
            <a:prstGeom prst="rect">
              <a:avLst/>
            </a:prstGeom>
          </p:spPr>
        </p:pic>
        <p:pic>
          <p:nvPicPr>
            <p:cNvPr id="7" name="圖片 6" descr="一張含有 文字, 螢幕擷取畫面, 收據 的圖片&#10;&#10;自動產生的描述">
              <a:extLst>
                <a:ext uri="{FF2B5EF4-FFF2-40B4-BE49-F238E27FC236}">
                  <a16:creationId xmlns:a16="http://schemas.microsoft.com/office/drawing/2014/main" id="{EBF14A68-033D-4ED1-B004-14CD715417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45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0989"/>
            <a:stretch/>
          </p:blipFill>
          <p:spPr>
            <a:xfrm>
              <a:off x="775698" y="769918"/>
              <a:ext cx="8430802" cy="901920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F9422C2-6ED8-4187-9C36-E8A6B326E4A9}"/>
                </a:ext>
              </a:extLst>
            </p:cNvPr>
            <p:cNvSpPr/>
            <p:nvPr/>
          </p:nvSpPr>
          <p:spPr>
            <a:xfrm>
              <a:off x="775698" y="1383970"/>
              <a:ext cx="3986802" cy="2878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42205F3-E21F-408D-B5BE-B13FFEBB9FC6}"/>
                </a:ext>
              </a:extLst>
            </p:cNvPr>
            <p:cNvSpPr/>
            <p:nvPr/>
          </p:nvSpPr>
          <p:spPr>
            <a:xfrm>
              <a:off x="5373098" y="1053440"/>
              <a:ext cx="3986802" cy="2878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7563561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5.6</a:t>
            </a:r>
            <a:r>
              <a:rPr kumimoji="1" lang="zh-TW" altLang="en-US" dirty="0"/>
              <a:t>推廣策略</a:t>
            </a:r>
            <a:r>
              <a:rPr kumimoji="1" lang="en-US" altLang="zh-HK" dirty="0"/>
              <a:t>– </a:t>
            </a:r>
            <a:r>
              <a:rPr kumimoji="1" lang="en-US" altLang="zh-TW" dirty="0"/>
              <a:t>15</a:t>
            </a:r>
            <a:r>
              <a:rPr kumimoji="1" lang="en-US" altLang="zh-HK" dirty="0"/>
              <a:t>.</a:t>
            </a:r>
            <a:r>
              <a:rPr kumimoji="1" lang="en-US" altLang="zh-TW" dirty="0"/>
              <a:t>6b</a:t>
            </a:r>
            <a:r>
              <a:rPr kumimoji="1" lang="en-US" altLang="zh-HK" dirty="0"/>
              <a:t>(6)</a:t>
            </a:r>
            <a:endParaRPr kumimoji="1" lang="zh-HK" altLang="en-US" dirty="0"/>
          </a:p>
        </p:txBody>
      </p:sp>
      <p:pic>
        <p:nvPicPr>
          <p:cNvPr id="4" name="圖片 3" descr="一張含有 桌 的圖片&#10;&#10;自動產生的描述">
            <a:extLst>
              <a:ext uri="{FF2B5EF4-FFF2-40B4-BE49-F238E27FC236}">
                <a16:creationId xmlns:a16="http://schemas.microsoft.com/office/drawing/2014/main" id="{2768F57B-0AE0-48CD-BA5B-E166E4E563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0000" contrast="7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54" y="1533260"/>
            <a:ext cx="11512698" cy="234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53708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5.6</a:t>
            </a:r>
            <a:r>
              <a:rPr kumimoji="1" lang="zh-TW" altLang="en-US" dirty="0"/>
              <a:t>推廣策略</a:t>
            </a:r>
            <a:r>
              <a:rPr kumimoji="1" lang="en-US" altLang="zh-HK" dirty="0"/>
              <a:t>– </a:t>
            </a:r>
            <a:r>
              <a:rPr kumimoji="1" lang="en-US" altLang="zh-TW" dirty="0"/>
              <a:t>15</a:t>
            </a:r>
            <a:r>
              <a:rPr kumimoji="1" lang="en-US" altLang="zh-HK" dirty="0"/>
              <a:t>.</a:t>
            </a:r>
            <a:r>
              <a:rPr kumimoji="1" lang="en-US" altLang="zh-TW" dirty="0"/>
              <a:t>6b</a:t>
            </a:r>
            <a:r>
              <a:rPr kumimoji="1" lang="en-US" altLang="zh-HK" dirty="0"/>
              <a:t>(6)</a:t>
            </a:r>
            <a:endParaRPr kumimoji="1" lang="zh-HK" altLang="en-US" dirty="0"/>
          </a:p>
        </p:txBody>
      </p:sp>
      <p:pic>
        <p:nvPicPr>
          <p:cNvPr id="4" name="圖片 3" descr="一張含有 文字 的圖片&#10;&#10;自動產生的描述">
            <a:extLst>
              <a:ext uri="{FF2B5EF4-FFF2-40B4-BE49-F238E27FC236}">
                <a16:creationId xmlns:a16="http://schemas.microsoft.com/office/drawing/2014/main" id="{20B9F6E6-4CB8-467A-9920-C95077F02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538" y="731782"/>
            <a:ext cx="6115904" cy="5925377"/>
          </a:xfrm>
          <a:prstGeom prst="rect">
            <a:avLst/>
          </a:prstGeom>
        </p:spPr>
      </p:pic>
      <p:pic>
        <p:nvPicPr>
          <p:cNvPr id="6" name="圖片 5" descr="一張含有 文字 的圖片&#10;&#10;自動產生的描述">
            <a:extLst>
              <a:ext uri="{FF2B5EF4-FFF2-40B4-BE49-F238E27FC236}">
                <a16:creationId xmlns:a16="http://schemas.microsoft.com/office/drawing/2014/main" id="{57FB6D9B-A0EF-4275-9E9A-D43D742CB1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581" y="731782"/>
            <a:ext cx="2419553" cy="319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3993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595C02A-6AF2-484F-88D7-F29A29A5D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92" y="1018837"/>
            <a:ext cx="10679015" cy="4820323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7126388" y="3700213"/>
            <a:ext cx="1575790" cy="35777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285697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5.6</a:t>
            </a:r>
            <a:r>
              <a:rPr kumimoji="1" lang="zh-TW" altLang="en-US" dirty="0"/>
              <a:t>推廣策略</a:t>
            </a:r>
            <a:r>
              <a:rPr kumimoji="1" lang="en-US" altLang="zh-HK" dirty="0"/>
              <a:t>– </a:t>
            </a:r>
            <a:r>
              <a:rPr kumimoji="1" lang="en-US" altLang="zh-TW"/>
              <a:t>19</a:t>
            </a:r>
            <a:r>
              <a:rPr kumimoji="1" lang="en-US" altLang="zh-HK"/>
              <a:t>.</a:t>
            </a:r>
            <a:r>
              <a:rPr kumimoji="1" lang="en-US" altLang="zh-TW"/>
              <a:t>6a</a:t>
            </a:r>
            <a:r>
              <a:rPr kumimoji="1" lang="en-US" altLang="zh-HK"/>
              <a:t>(4)</a:t>
            </a:r>
            <a:endParaRPr kumimoji="1" lang="zh-HK" altLang="en-US" dirty="0"/>
          </a:p>
        </p:txBody>
      </p:sp>
      <p:pic>
        <p:nvPicPr>
          <p:cNvPr id="4" name="圖片 3" descr="一張含有 文字 的圖片&#10;&#10;自動產生的描述">
            <a:extLst>
              <a:ext uri="{FF2B5EF4-FFF2-40B4-BE49-F238E27FC236}">
                <a16:creationId xmlns:a16="http://schemas.microsoft.com/office/drawing/2014/main" id="{CEAFED90-1BAD-2740-AE4C-94E3A51900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617518"/>
            <a:ext cx="6465556" cy="489325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2E5AC55C-D17A-9145-B55A-BDFD09BACC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5554682"/>
            <a:ext cx="10515600" cy="9144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2711208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5.6</a:t>
            </a:r>
            <a:r>
              <a:rPr kumimoji="1" lang="zh-TW" altLang="en-US" dirty="0"/>
              <a:t>推廣策略</a:t>
            </a:r>
            <a:r>
              <a:rPr kumimoji="1" lang="en-US" altLang="zh-HK" dirty="0"/>
              <a:t>– </a:t>
            </a:r>
            <a:r>
              <a:rPr kumimoji="1" lang="en-US" altLang="zh-TW"/>
              <a:t>19</a:t>
            </a:r>
            <a:r>
              <a:rPr kumimoji="1" lang="en-US" altLang="zh-HK"/>
              <a:t>.</a:t>
            </a:r>
            <a:r>
              <a:rPr kumimoji="1" lang="en-US" altLang="zh-TW"/>
              <a:t>6a</a:t>
            </a:r>
            <a:r>
              <a:rPr kumimoji="1" lang="en-US" altLang="zh-HK"/>
              <a:t>(4)</a:t>
            </a:r>
            <a:endParaRPr kumimoji="1" lang="zh-HK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C6F119E-38C2-6249-AB34-2B63C18DD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191" y="1200637"/>
            <a:ext cx="10875187" cy="19821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6147882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5.6</a:t>
            </a:r>
            <a:r>
              <a:rPr kumimoji="1" lang="zh-TW" altLang="en-US" dirty="0"/>
              <a:t>推廣策略</a:t>
            </a:r>
            <a:r>
              <a:rPr kumimoji="1" lang="en-US" altLang="zh-HK" dirty="0"/>
              <a:t>– </a:t>
            </a:r>
            <a:r>
              <a:rPr kumimoji="1" lang="en-US" altLang="zh-TW"/>
              <a:t>19</a:t>
            </a:r>
            <a:r>
              <a:rPr kumimoji="1" lang="en-US" altLang="zh-HK"/>
              <a:t>.</a:t>
            </a:r>
            <a:r>
              <a:rPr kumimoji="1" lang="en-US" altLang="zh-TW"/>
              <a:t>6a</a:t>
            </a:r>
            <a:r>
              <a:rPr kumimoji="1" lang="en-US" altLang="zh-HK"/>
              <a:t>(4)</a:t>
            </a:r>
            <a:endParaRPr kumimoji="1" lang="zh-HK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9A67F8C-B4C7-462C-ACD9-018AEDE5C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83" y="617518"/>
            <a:ext cx="10317015" cy="593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42327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595C02A-6AF2-484F-88D7-F29A29A5D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92" y="1018837"/>
            <a:ext cx="10679015" cy="4820323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7183538" y="4290763"/>
            <a:ext cx="1575790" cy="35777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176456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5.6</a:t>
            </a:r>
            <a:r>
              <a:rPr kumimoji="1" lang="zh-TW" altLang="en-US" dirty="0"/>
              <a:t>推廣策略</a:t>
            </a:r>
            <a:r>
              <a:rPr kumimoji="1" lang="en-US" altLang="zh-HK" dirty="0"/>
              <a:t>– </a:t>
            </a:r>
            <a:r>
              <a:rPr kumimoji="1" lang="en-US" altLang="zh-TW" dirty="0"/>
              <a:t>21</a:t>
            </a:r>
            <a:r>
              <a:rPr kumimoji="1" lang="en-US" altLang="zh-HK" dirty="0"/>
              <a:t>.</a:t>
            </a:r>
            <a:r>
              <a:rPr kumimoji="1" lang="en-US" altLang="zh-TW" dirty="0"/>
              <a:t>3a</a:t>
            </a:r>
            <a:r>
              <a:rPr kumimoji="1" lang="en-US" altLang="zh-HK" dirty="0"/>
              <a:t>(2)</a:t>
            </a:r>
            <a:endParaRPr kumimoji="1" lang="zh-HK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3F7CD2B-F355-4A68-94D9-05B15B9ACA6B}"/>
              </a:ext>
            </a:extLst>
          </p:cNvPr>
          <p:cNvSpPr txBox="1"/>
          <p:nvPr/>
        </p:nvSpPr>
        <p:spPr>
          <a:xfrm>
            <a:off x="492919" y="686871"/>
            <a:ext cx="111561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b="1" i="0" dirty="0">
                <a:effectLst/>
                <a:latin typeface="quote-cjk-patch"/>
              </a:rPr>
              <a:t>解釋市場營銷組合策略中「個人銷售」的意義。（</a:t>
            </a:r>
            <a:r>
              <a:rPr lang="en-US" altLang="zh-TW" sz="3200" b="1" i="0" dirty="0">
                <a:effectLst/>
                <a:latin typeface="quote-cjk-patch"/>
              </a:rPr>
              <a:t>2</a:t>
            </a:r>
            <a:r>
              <a:rPr lang="zh-TW" altLang="en-US" sz="3200" b="1" i="0" dirty="0">
                <a:effectLst/>
                <a:latin typeface="quote-cjk-patch"/>
              </a:rPr>
              <a:t>分）</a:t>
            </a:r>
            <a:endParaRPr lang="zh-HK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09418496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5.6 </a:t>
            </a:r>
            <a:r>
              <a:rPr kumimoji="1" lang="zh-TW" altLang="en-US" dirty="0"/>
              <a:t>推廣策略</a:t>
            </a:r>
            <a:r>
              <a:rPr kumimoji="1" lang="en-US" altLang="zh-HK" dirty="0"/>
              <a:t>– </a:t>
            </a:r>
            <a:r>
              <a:rPr kumimoji="1" lang="en-US" altLang="zh-TW" dirty="0"/>
              <a:t>21</a:t>
            </a:r>
            <a:r>
              <a:rPr kumimoji="1" lang="en-US" altLang="zh-HK" dirty="0"/>
              <a:t>.</a:t>
            </a:r>
            <a:r>
              <a:rPr kumimoji="1" lang="en-US" altLang="zh-TW" dirty="0"/>
              <a:t>3a</a:t>
            </a:r>
            <a:r>
              <a:rPr kumimoji="1" lang="en-US" altLang="zh-HK" dirty="0"/>
              <a:t>(2)</a:t>
            </a:r>
            <a:endParaRPr kumimoji="1" lang="zh-HK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667F510-816A-49ED-92E0-5B39893225A6}"/>
              </a:ext>
            </a:extLst>
          </p:cNvPr>
          <p:cNvSpPr txBox="1"/>
          <p:nvPr/>
        </p:nvSpPr>
        <p:spPr>
          <a:xfrm>
            <a:off x="607219" y="957173"/>
            <a:ext cx="11289506" cy="2554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altLang="zh-TW" sz="3200" b="0" i="0" dirty="0">
                <a:effectLst/>
                <a:latin typeface="quote-cjk-patch"/>
              </a:rPr>
              <a:t>(a) </a:t>
            </a:r>
            <a:r>
              <a:rPr lang="zh-TW" altLang="en-US" sz="3200" b="0" i="0" dirty="0">
                <a:effectLst/>
                <a:latin typeface="quote-cjk-patch"/>
              </a:rPr>
              <a:t>個人銷售：</a:t>
            </a:r>
          </a:p>
          <a:p>
            <a:pPr algn="l"/>
            <a:endParaRPr lang="en-US" altLang="zh-TW" sz="3200" b="0" i="0" dirty="0">
              <a:effectLst/>
              <a:latin typeface="quote-cjk-patch"/>
            </a:endParaRPr>
          </a:p>
          <a:p>
            <a:pPr algn="l"/>
            <a:r>
              <a:rPr lang="zh-TW" altLang="en-US" sz="3200" b="0" i="0" dirty="0">
                <a:effectLst/>
                <a:latin typeface="quote-cjk-patch"/>
              </a:rPr>
              <a:t>銷售人員透過</a:t>
            </a:r>
            <a:r>
              <a:rPr lang="zh-TW" altLang="en-US" sz="3200" b="1" i="0" dirty="0">
                <a:effectLst/>
                <a:highlight>
                  <a:srgbClr val="FFFF00"/>
                </a:highlight>
                <a:latin typeface="quote-cjk-patch"/>
              </a:rPr>
              <a:t>親自示範</a:t>
            </a:r>
            <a:r>
              <a:rPr lang="zh-TW" altLang="en-US" sz="3200" b="0" i="0" dirty="0">
                <a:effectLst/>
                <a:latin typeface="quote-cjk-patch"/>
              </a:rPr>
              <a:t>／面對面介紹，</a:t>
            </a:r>
            <a:r>
              <a:rPr lang="en-US" altLang="zh-TW" sz="3200" b="0" i="0" dirty="0">
                <a:effectLst/>
                <a:latin typeface="quote-cjk-patch"/>
              </a:rPr>
              <a:t>(1</a:t>
            </a:r>
            <a:r>
              <a:rPr lang="zh-TW" altLang="en-US" sz="3200" b="0" i="0" dirty="0">
                <a:effectLst/>
                <a:latin typeface="quote-cjk-patch"/>
              </a:rPr>
              <a:t>分</a:t>
            </a:r>
            <a:r>
              <a:rPr lang="en-US" altLang="zh-TW" sz="3200" b="0" i="0" dirty="0">
                <a:effectLst/>
                <a:latin typeface="quote-cjk-patch"/>
              </a:rPr>
              <a:t>)</a:t>
            </a:r>
            <a:r>
              <a:rPr lang="zh-TW" altLang="en-US" sz="3200" b="0" i="0" dirty="0">
                <a:effectLst/>
                <a:latin typeface="quote-cjk-patch"/>
              </a:rPr>
              <a:t>　　</a:t>
            </a:r>
            <a:endParaRPr lang="en-US" altLang="zh-TW" sz="3200" b="0" i="0" dirty="0">
              <a:effectLst/>
              <a:latin typeface="quote-cjk-patch"/>
            </a:endParaRPr>
          </a:p>
          <a:p>
            <a:pPr algn="l"/>
            <a:endParaRPr lang="en-US" altLang="zh-TW" sz="3200" dirty="0">
              <a:latin typeface="quote-cjk-patch"/>
            </a:endParaRPr>
          </a:p>
          <a:p>
            <a:pPr algn="l"/>
            <a:r>
              <a:rPr lang="zh-TW" altLang="en-US" sz="3200" b="0" i="0" dirty="0">
                <a:effectLst/>
                <a:latin typeface="quote-cjk-patch"/>
              </a:rPr>
              <a:t>向顧客</a:t>
            </a:r>
            <a:r>
              <a:rPr lang="zh-TW" altLang="en-US" sz="3200" b="1" i="0" dirty="0">
                <a:effectLst/>
                <a:highlight>
                  <a:srgbClr val="FFFF00"/>
                </a:highlight>
                <a:latin typeface="quote-cjk-patch"/>
              </a:rPr>
              <a:t>推廣產品</a:t>
            </a:r>
            <a:r>
              <a:rPr lang="zh-TW" altLang="en-US" sz="3200" b="0" i="0" dirty="0">
                <a:effectLst/>
                <a:latin typeface="quote-cjk-patch"/>
              </a:rPr>
              <a:t>，以達成銷售 </a:t>
            </a:r>
            <a:r>
              <a:rPr lang="en-US" altLang="zh-TW" sz="3200" b="0" i="0" dirty="0">
                <a:effectLst/>
                <a:latin typeface="quote-cjk-patch"/>
              </a:rPr>
              <a:t>(1</a:t>
            </a:r>
            <a:r>
              <a:rPr lang="zh-TW" altLang="en-US" sz="3200" b="0" i="0" dirty="0">
                <a:effectLst/>
                <a:latin typeface="quote-cjk-patch"/>
              </a:rPr>
              <a:t>分</a:t>
            </a:r>
            <a:r>
              <a:rPr lang="en-US" altLang="zh-TW" sz="3200" b="0" i="0" dirty="0">
                <a:effectLst/>
                <a:latin typeface="quote-cjk-patch"/>
              </a:rPr>
              <a:t>)</a:t>
            </a:r>
            <a:r>
              <a:rPr lang="zh-TW" altLang="en-US" sz="3200" b="0" i="0" dirty="0">
                <a:effectLst/>
                <a:latin typeface="quote-cjk-patch"/>
              </a:rPr>
              <a:t>　　</a:t>
            </a:r>
          </a:p>
        </p:txBody>
      </p:sp>
    </p:spTree>
    <p:extLst>
      <p:ext uri="{BB962C8B-B14F-4D97-AF65-F5344CB8AC3E}">
        <p14:creationId xmlns:p14="http://schemas.microsoft.com/office/powerpoint/2010/main" val="380864416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595C02A-6AF2-484F-88D7-F29A29A5D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92" y="1018837"/>
            <a:ext cx="10679015" cy="4820323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7132738" y="4930843"/>
            <a:ext cx="1575790" cy="35777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721520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5.6 </a:t>
            </a:r>
            <a:r>
              <a:rPr kumimoji="1" lang="zh-TW" altLang="en-US" dirty="0"/>
              <a:t>推廣策略</a:t>
            </a:r>
            <a:r>
              <a:rPr kumimoji="1" lang="en-US" altLang="zh-HK" dirty="0"/>
              <a:t>– </a:t>
            </a:r>
            <a:r>
              <a:rPr kumimoji="1" lang="en-US" altLang="zh-TW" dirty="0"/>
              <a:t>23</a:t>
            </a:r>
            <a:r>
              <a:rPr kumimoji="1" lang="en-US" altLang="zh-HK" dirty="0"/>
              <a:t>.3b(2)</a:t>
            </a:r>
            <a:endParaRPr kumimoji="1" lang="zh-HK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BF99241-E3B4-47FC-B5DD-1464FFEA89E3}"/>
              </a:ext>
            </a:extLst>
          </p:cNvPr>
          <p:cNvSpPr txBox="1"/>
          <p:nvPr/>
        </p:nvSpPr>
        <p:spPr>
          <a:xfrm>
            <a:off x="497711" y="817338"/>
            <a:ext cx="1127374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000" b="1" i="0" dirty="0">
                <a:effectLst/>
                <a:latin typeface="quote-cjk-patch"/>
              </a:rPr>
              <a:t>健身中心向目標顧客提供免費試堂是推廣組合的哪項元素？指出採用這元素的一個目的。（</a:t>
            </a:r>
            <a:r>
              <a:rPr lang="en-US" altLang="zh-TW" sz="4000" b="1" i="0" dirty="0">
                <a:effectLst/>
                <a:latin typeface="quote-cjk-patch"/>
              </a:rPr>
              <a:t>2</a:t>
            </a:r>
            <a:r>
              <a:rPr lang="zh-TW" altLang="en-US" sz="4000" b="1" i="0" dirty="0">
                <a:effectLst/>
                <a:latin typeface="quote-cjk-patch"/>
              </a:rPr>
              <a:t>分）</a:t>
            </a:r>
            <a:endParaRPr lang="zh-HK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38783003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E183C-9D75-8F4A-91EC-D8D7872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599262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5.6 </a:t>
            </a:r>
            <a:r>
              <a:rPr kumimoji="1" lang="zh-TW" altLang="en-US" dirty="0"/>
              <a:t>推廣策略</a:t>
            </a:r>
            <a:r>
              <a:rPr kumimoji="1" lang="en-US" altLang="zh-HK" dirty="0"/>
              <a:t>– </a:t>
            </a:r>
            <a:r>
              <a:rPr kumimoji="1" lang="en-US" altLang="zh-TW" dirty="0"/>
              <a:t>23</a:t>
            </a:r>
            <a:r>
              <a:rPr kumimoji="1" lang="en-US" altLang="zh-HK" dirty="0"/>
              <a:t>.3b(2)</a:t>
            </a:r>
            <a:endParaRPr kumimoji="1" lang="zh-HK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56A6395-BAB4-47FF-8941-6836F7FBC74D}"/>
              </a:ext>
            </a:extLst>
          </p:cNvPr>
          <p:cNvSpPr txBox="1"/>
          <p:nvPr/>
        </p:nvSpPr>
        <p:spPr>
          <a:xfrm>
            <a:off x="250190" y="617518"/>
            <a:ext cx="11691620" cy="61863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HK" altLang="en-US" sz="3600" dirty="0"/>
              <a:t>(b) 銷售推廣　　</a:t>
            </a:r>
            <a:r>
              <a:rPr lang="en-US" altLang="zh-HK" sz="3600" dirty="0"/>
              <a:t>(</a:t>
            </a:r>
            <a:r>
              <a:rPr lang="zh-HK" altLang="en-US" sz="3600" dirty="0"/>
              <a:t>1分 </a:t>
            </a:r>
            <a:r>
              <a:rPr lang="en-US" altLang="zh-HK" sz="3600" dirty="0"/>
              <a:t>)</a:t>
            </a:r>
          </a:p>
          <a:p>
            <a:r>
              <a:rPr lang="zh-HK" altLang="en-US" sz="3600" dirty="0"/>
              <a:t>目的： </a:t>
            </a:r>
            <a:endParaRPr lang="en-US" altLang="zh-HK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zh-HK" altLang="en-US" sz="3600" dirty="0"/>
              <a:t>提供短期誘因，吸引顧客嘗試及購買該培訓課程， ／加快購買過程  </a:t>
            </a:r>
            <a:r>
              <a:rPr lang="en-US" altLang="zh-HK" sz="3600" dirty="0"/>
              <a:t>(</a:t>
            </a:r>
            <a:r>
              <a:rPr lang="zh-HK" altLang="en-US" sz="3600" dirty="0"/>
              <a:t>1分 </a:t>
            </a:r>
            <a:r>
              <a:rPr lang="en-US" altLang="zh-HK" sz="3600" dirty="0"/>
              <a:t>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zh-HK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zh-HK" altLang="en-US" sz="3600" dirty="0"/>
              <a:t>其他可接受的答案： （經濟／金錢上的）誘因，以刺激銷售／刺激顧客購買</a:t>
            </a:r>
            <a:r>
              <a:rPr lang="en-US" altLang="zh-HK" sz="3600" dirty="0"/>
              <a:t>	</a:t>
            </a:r>
          </a:p>
          <a:p>
            <a:r>
              <a:rPr lang="en-US" altLang="zh-HK" sz="3600" dirty="0"/>
              <a:t>				</a:t>
            </a:r>
            <a:endParaRPr lang="en-US" altLang="zh-HK" sz="2000" dirty="0"/>
          </a:p>
          <a:p>
            <a:r>
              <a:rPr lang="zh-HK" altLang="en-US" sz="3600" u="sng" dirty="0"/>
              <a:t>常見錯誤：</a:t>
            </a:r>
            <a:endParaRPr lang="en-US" altLang="zh-HK" sz="3600" u="sng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zh-HK" altLang="en-US" sz="3600" dirty="0"/>
              <a:t>錯誤地回答為市場營銷組合中的「價格／推廣／產品」 </a:t>
            </a:r>
            <a:endParaRPr lang="en-US" altLang="zh-HK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zh-HK" altLang="en-US" sz="3600" dirty="0"/>
              <a:t>僅陳述「吸引注意／吸引顧客嘗試」作為目的</a:t>
            </a:r>
          </a:p>
        </p:txBody>
      </p:sp>
    </p:spTree>
    <p:extLst>
      <p:ext uri="{BB962C8B-B14F-4D97-AF65-F5344CB8AC3E}">
        <p14:creationId xmlns:p14="http://schemas.microsoft.com/office/powerpoint/2010/main" val="46515875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D595C02A-6AF2-484F-88D7-F29A29A5D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92" y="1018837"/>
            <a:ext cx="10679015" cy="4820323"/>
          </a:xfrm>
          <a:prstGeom prst="rect">
            <a:avLst/>
          </a:prstGeom>
        </p:spPr>
      </p:pic>
      <p:sp>
        <p:nvSpPr>
          <p:cNvPr id="2" name="橢圓 1">
            <a:extLst>
              <a:ext uri="{FF2B5EF4-FFF2-40B4-BE49-F238E27FC236}">
                <a16:creationId xmlns:a16="http://schemas.microsoft.com/office/drawing/2014/main" id="{E2E6ECAB-1CFF-433E-97EF-2711BBBEC1C5}"/>
              </a:ext>
            </a:extLst>
          </p:cNvPr>
          <p:cNvSpPr/>
          <p:nvPr/>
        </p:nvSpPr>
        <p:spPr>
          <a:xfrm>
            <a:off x="7132738" y="5178493"/>
            <a:ext cx="1575790" cy="35777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175420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51F006-9A2C-4517-8E20-83DB53E9A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051"/>
            <a:ext cx="10515600" cy="1325563"/>
          </a:xfrm>
        </p:spPr>
        <p:txBody>
          <a:bodyPr/>
          <a:lstStyle/>
          <a:p>
            <a:r>
              <a:rPr lang="en-US" altLang="zh-HK" dirty="0"/>
              <a:t>2024 6c (4)</a:t>
            </a:r>
            <a:endParaRPr lang="zh-HK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EB6FF94-629A-417C-B881-9B961964D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28" y="1198624"/>
            <a:ext cx="9497992" cy="554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28547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51F006-9A2C-4517-8E20-83DB53E9A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2024 6c (4)</a:t>
            </a:r>
            <a:endParaRPr lang="zh-HK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37FB359-8BBC-4546-B259-7542637733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26772"/>
            <a:ext cx="10515600" cy="1502228"/>
          </a:xfrm>
        </p:spPr>
      </p:pic>
    </p:spTree>
    <p:extLst>
      <p:ext uri="{BB962C8B-B14F-4D97-AF65-F5344CB8AC3E}">
        <p14:creationId xmlns:p14="http://schemas.microsoft.com/office/powerpoint/2010/main" val="2781335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2664</TotalTime>
  <Words>1011</Words>
  <Application>Microsoft Office PowerPoint</Application>
  <PresentationFormat>寬螢幕</PresentationFormat>
  <Paragraphs>105</Paragraphs>
  <Slides>95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95</vt:i4>
      </vt:variant>
    </vt:vector>
  </HeadingPairs>
  <TitlesOfParts>
    <vt:vector size="100" baseType="lpstr">
      <vt:lpstr>quote-cjk-patch</vt:lpstr>
      <vt:lpstr>Arial</vt:lpstr>
      <vt:lpstr>Calibri</vt:lpstr>
      <vt:lpstr>Calibri Light</vt:lpstr>
      <vt:lpstr>Office 佈景主題</vt:lpstr>
      <vt:lpstr>Product</vt:lpstr>
      <vt:lpstr>PowerPoint 簡報</vt:lpstr>
      <vt:lpstr>5.3產品策略 – 18.2(6)</vt:lpstr>
      <vt:lpstr>5.3產品策略 – 18.2(6)</vt:lpstr>
      <vt:lpstr>5.3產品策略 – 18.2(6)</vt:lpstr>
      <vt:lpstr>5.3產品策略 – 18.2(6) – 錯誤示範</vt:lpstr>
      <vt:lpstr>5.3產品策略 – 18.2(6) – 錯誤示範</vt:lpstr>
      <vt:lpstr>PowerPoint 簡報</vt:lpstr>
      <vt:lpstr>5.3產品策略 – 19.6bii(4)</vt:lpstr>
      <vt:lpstr>5.3產品策略 – 19.6bii(4)</vt:lpstr>
      <vt:lpstr>5.4定價策略 – 19.6bii(4)</vt:lpstr>
      <vt:lpstr>5.3產品策略 – 19.6bii(4)</vt:lpstr>
      <vt:lpstr>5.3產品策略 – 19.6bii(4)</vt:lpstr>
      <vt:lpstr>PowerPoint 簡報</vt:lpstr>
      <vt:lpstr>5.3產品策略 – 22.5C(4)</vt:lpstr>
      <vt:lpstr>5.3產品策略 – 22.5C(4)</vt:lpstr>
      <vt:lpstr>5.3產品策略 – 22.5C(4)</vt:lpstr>
      <vt:lpstr>PowerPoint 簡報</vt:lpstr>
      <vt:lpstr>5.3產品策略 – 23.5d(4)</vt:lpstr>
      <vt:lpstr>5.3產品策略 – 22.5C(4)</vt:lpstr>
      <vt:lpstr>5.3產品策略 – 22.5C(4)</vt:lpstr>
      <vt:lpstr>5.3產品策略 – 22.5C(4)</vt:lpstr>
      <vt:lpstr>5.3產品策略 – 22.5C(4)</vt:lpstr>
      <vt:lpstr>Price</vt:lpstr>
      <vt:lpstr>PowerPoint 簡報</vt:lpstr>
      <vt:lpstr>5.4定價策略 – 16.9a(8)</vt:lpstr>
      <vt:lpstr>5.4定價策略 – 16.9a(8)</vt:lpstr>
      <vt:lpstr>5.4定價策略 – 16.9a(8)</vt:lpstr>
      <vt:lpstr>5.4定價策略 – 16.9a(8) – 錯誤示範</vt:lpstr>
      <vt:lpstr>PowerPoint 簡報</vt:lpstr>
      <vt:lpstr>5.4定價策略 – 23#7a(10)</vt:lpstr>
      <vt:lpstr>5.4定價策略 – 23#7a(10)</vt:lpstr>
      <vt:lpstr>5.4定價策略 – 23#7a(10)</vt:lpstr>
      <vt:lpstr>5.4定價策略 – 23#7a(10)</vt:lpstr>
      <vt:lpstr>PowerPoint 簡報</vt:lpstr>
      <vt:lpstr>5.4定價策略 – 14.5(4)</vt:lpstr>
      <vt:lpstr>5.4定價策略 – 14.5(4)</vt:lpstr>
      <vt:lpstr>5.4定價策略 – 14.5(4)</vt:lpstr>
      <vt:lpstr>5.4定價策略 – 14.5(4) – 錯誤示範</vt:lpstr>
      <vt:lpstr>PowerPoint 簡報</vt:lpstr>
      <vt:lpstr>5.4定價策略 – 19.5di(1), 5dii(2)</vt:lpstr>
      <vt:lpstr>5.4定價策略 – 19.5di(1), 5dii(2)</vt:lpstr>
      <vt:lpstr>5.4定價策略 – 19.5dii(2) – 錯誤示範</vt:lpstr>
      <vt:lpstr>PowerPoint 簡報</vt:lpstr>
      <vt:lpstr>5.4定價策略 – 新產品定價 21.5b(2)</vt:lpstr>
      <vt:lpstr>5.4定價策略 – 新產品定價 21.5b(2)</vt:lpstr>
      <vt:lpstr>PowerPoint 簡報</vt:lpstr>
      <vt:lpstr>5.4定價策略 – 新產品定價 24.2b(4)</vt:lpstr>
      <vt:lpstr>5.4定價策略 – 新產品定價 24.2b(4)</vt:lpstr>
      <vt:lpstr>5.4定價策略 – 新產品定價 24.2b(4)</vt:lpstr>
      <vt:lpstr>Place</vt:lpstr>
      <vt:lpstr>PowerPoint 簡報</vt:lpstr>
      <vt:lpstr>5.5分銷策略 – 16.3(6)</vt:lpstr>
      <vt:lpstr>5.5分銷策略 – 16.3(6)</vt:lpstr>
      <vt:lpstr>5.5分銷策略 – 16.3(6)</vt:lpstr>
      <vt:lpstr>5.5分銷策略 – 16.3(6)</vt:lpstr>
      <vt:lpstr>PowerPoint 簡報</vt:lpstr>
      <vt:lpstr>5.5分銷策略 – 18.7b(12)</vt:lpstr>
      <vt:lpstr>5.5分銷策略 – 18.7b(12)</vt:lpstr>
      <vt:lpstr>5.5分銷策略 – 18.7b(12)</vt:lpstr>
      <vt:lpstr>5.5分銷策略 – 18.7b(12)</vt:lpstr>
      <vt:lpstr>PowerPoint 簡報</vt:lpstr>
      <vt:lpstr>5.5 分銷策略 – 21.8a(12)</vt:lpstr>
      <vt:lpstr>5.5 分銷策略 – 21.8a(12)</vt:lpstr>
      <vt:lpstr>PowerPoint 簡報</vt:lpstr>
      <vt:lpstr>PowerPoint 簡報</vt:lpstr>
      <vt:lpstr>5.5 分銷策略 – 23.8a(8)</vt:lpstr>
      <vt:lpstr>5.5 分銷策略 – 23.8a(8)</vt:lpstr>
      <vt:lpstr>5.5 分銷策略 – 23.8a(8)</vt:lpstr>
      <vt:lpstr>PowerPoint 簡報</vt:lpstr>
      <vt:lpstr>5.5 分銷策略 – 25.6c(4)</vt:lpstr>
      <vt:lpstr>5.5 分銷策略 – 25.6c(4)</vt:lpstr>
      <vt:lpstr>5.5 分銷策略 – 25.6c(4)</vt:lpstr>
      <vt:lpstr>Promotion</vt:lpstr>
      <vt:lpstr>PowerPoint 簡報</vt:lpstr>
      <vt:lpstr>5.6推廣策略 – 13.7e(6)</vt:lpstr>
      <vt:lpstr>5.6推廣策略 – 13.7e(6)</vt:lpstr>
      <vt:lpstr>5.6推廣策略 – 13.7e(6)</vt:lpstr>
      <vt:lpstr>PowerPoint 簡報</vt:lpstr>
      <vt:lpstr>5.6推廣策略– 15.6b(6)</vt:lpstr>
      <vt:lpstr>5.6推廣策略– 15.6b(6)</vt:lpstr>
      <vt:lpstr>5.6推廣策略– 15.6b(6)</vt:lpstr>
      <vt:lpstr>PowerPoint 簡報</vt:lpstr>
      <vt:lpstr>5.6推廣策略– 19.6a(4)</vt:lpstr>
      <vt:lpstr>5.6推廣策略– 19.6a(4)</vt:lpstr>
      <vt:lpstr>5.6推廣策略– 19.6a(4)</vt:lpstr>
      <vt:lpstr>PowerPoint 簡報</vt:lpstr>
      <vt:lpstr>5.6推廣策略– 21.3a(2)</vt:lpstr>
      <vt:lpstr>5.6 推廣策略– 21.3a(2)</vt:lpstr>
      <vt:lpstr>PowerPoint 簡報</vt:lpstr>
      <vt:lpstr>5.6 推廣策略– 23.3b(2)</vt:lpstr>
      <vt:lpstr>5.6 推廣策略– 23.3b(2)</vt:lpstr>
      <vt:lpstr>PowerPoint 簡報</vt:lpstr>
      <vt:lpstr>2024 6c (4)</vt:lpstr>
      <vt:lpstr>2024 6c (4)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Android test</dc:creator>
  <cp:lastModifiedBy>yn chan</cp:lastModifiedBy>
  <cp:revision>238</cp:revision>
  <cp:lastPrinted>2020-10-26T03:21:09Z</cp:lastPrinted>
  <dcterms:created xsi:type="dcterms:W3CDTF">2020-07-18T16:05:14Z</dcterms:created>
  <dcterms:modified xsi:type="dcterms:W3CDTF">2026-05-08T04:02:36Z</dcterms:modified>
</cp:coreProperties>
</file>